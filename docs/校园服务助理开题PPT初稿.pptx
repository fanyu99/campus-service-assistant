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2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mpus-service-opening_v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BF451E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867900" y="209550"/>
            <a:ext cx="1409700" cy="1409700"/>
          </a:xfrm>
          <a:prstGeom prst="ellipse">
            <a:avLst/>
          </a:prstGeom>
          <a:solidFill>
            <a:srgbClr val="F8EDE4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029950" y="1352550"/>
            <a:ext cx="419100" cy="419100"/>
          </a:xfrm>
          <a:prstGeom prst="ellipse">
            <a:avLst/>
          </a:prstGeom>
          <a:solidFill>
            <a:srgbClr val="D56B42">
              <a:alpha val="2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17042" y="615950"/>
            <a:ext cx="24140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软件工程专业 · 项目开题汇报</a:t>
            </a:r>
            <a:endParaRPr lang="zh-CN" sz="135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04850" y="1333500"/>
            <a:ext cx="3309366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校园服务助理</a:t>
            </a:r>
            <a:endParaRPr lang="zh-CN" sz="40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15137" y="2108200"/>
            <a:ext cx="464845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面向校内办事场景的可信问答与事项导航系统</a:t>
            </a:r>
            <a:endParaRPr lang="zh-CN" sz="172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723900" y="2790825"/>
            <a:ext cx="4762500" cy="28575"/>
          </a:xfrm>
          <a:prstGeom prst="rect">
            <a:avLst/>
          </a:prstGeom>
          <a:solidFill>
            <a:srgbClr val="BF451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7042" y="3206750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</a:t>
            </a:r>
            <a:endParaRPr lang="zh-CN" sz="13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17042" y="3549650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让学生用自然语言找到事项、依据与下一步操作</a:t>
            </a:r>
            <a:endParaRPr lang="zh-CN" sz="13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723900" y="4171950"/>
            <a:ext cx="44767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27354" y="436245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学校 / 专业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71650" y="4248785"/>
            <a:ext cx="2002790" cy="4391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725"/>
              </a:lnSpc>
            </a:pPr>
            <a:r>
              <a:rPr lang="zh-CN" sz="11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苏州大学计算机科学与技术学院</a:t>
            </a:r>
            <a:br>
              <a:rPr lang="zh-CN" sz="11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1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软件工程专业</a:t>
            </a:r>
            <a:endParaRPr lang="zh-CN" sz="112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27354" y="470535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指导老师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71523" y="4756785"/>
            <a:ext cx="304800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刘安</a:t>
            </a:r>
            <a:endParaRPr lang="zh-CN" sz="80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27354" y="504825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项目成员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68475" y="5048250"/>
            <a:ext cx="195897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范誉（队长）</a:t>
            </a:r>
            <a:r>
              <a:rPr lang="zh-CN" sz="11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sz="11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柯常瑞· 徐梓凯</a:t>
            </a:r>
            <a:endParaRPr lang="zh-CN" sz="112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6191250" y="704850"/>
            <a:ext cx="5295900" cy="51435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pic>
        <p:nvPicPr>
          <p:cNvPr id="19" name="Image 19"/>
          <p:cNvPicPr>
            <a:picLocks noChangeAspect="1"/>
          </p:cNvPicPr>
          <p:nvPr/>
        </p:nvPicPr>
        <p:blipFill>
          <a:blip r:embed="rId1"/>
          <a:srcRect l="78" r="77"/>
          <a:stretch>
            <a:fillRect/>
          </a:stretch>
        </p:blipFill>
        <p:spPr>
          <a:xfrm>
            <a:off x="6381750" y="895350"/>
            <a:ext cx="4914900" cy="3076575"/>
          </a:xfrm>
          <a:prstGeom prst="rect">
            <a:avLst/>
          </a:prstGeom>
        </p:spPr>
      </p:pic>
      <p:sp>
        <p:nvSpPr>
          <p:cNvPr id="20" name="Rectangle 20"/>
          <p:cNvSpPr/>
          <p:nvPr/>
        </p:nvSpPr>
        <p:spPr>
          <a:xfrm>
            <a:off x="6381750" y="4124325"/>
            <a:ext cx="4914900" cy="1438275"/>
          </a:xfrm>
          <a:prstGeom prst="roundRect">
            <a:avLst>
              <a:gd name="adj" fmla="val 3974"/>
            </a:avLst>
          </a:prstGeom>
          <a:solidFill>
            <a:srgbClr val="F8EDE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623685" y="4346575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原型实景</a:t>
            </a:r>
            <a:endParaRPr lang="zh-CN" sz="112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620637" y="4641850"/>
            <a:ext cx="372226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温暖、直接、可追溯的校园办事入口</a:t>
            </a:r>
            <a:endParaRPr lang="zh-CN" sz="172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623304" y="5067300"/>
            <a:ext cx="35920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3 前端 · FastAPI 服务 · 校园知识库 / Agent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18566" y="6292850"/>
            <a:ext cx="10495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开题答辩 · 2026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667750" y="-2857500"/>
            <a:ext cx="4762500" cy="4762500"/>
          </a:xfrm>
          <a:prstGeom prst="ellipse">
            <a:avLst/>
          </a:prstGeom>
          <a:solidFill>
            <a:srgbClr val="BF451E">
              <a:alpha val="7000"/>
            </a:srgb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1714500" y="4905375"/>
            <a:ext cx="4191000" cy="4191000"/>
          </a:xfrm>
          <a:prstGeom prst="ellipse">
            <a:avLst/>
          </a:prstGeom>
          <a:solidFill>
            <a:srgbClr val="39756B">
              <a:alpha val="5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4266" y="482600"/>
            <a:ext cx="6536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WHY</a:t>
            </a:r>
            <a:endParaRPr lang="en-US" sz="105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6646" y="711200"/>
            <a:ext cx="586168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校园事务信息，为什么需要一个助理？</a:t>
            </a:r>
            <a:endParaRPr lang="zh-CN" sz="25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3504" y="1200150"/>
            <a:ext cx="48746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学生面对的不是“没有信息”，而是信息分散、口径不一、难以追问。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7"/>
          <p:cNvSpPr/>
          <p:nvPr>
            <p:custDataLst>
              <p:tags r:id="rId1"/>
            </p:custDataLst>
          </p:nvPr>
        </p:nvSpPr>
        <p:spPr>
          <a:xfrm>
            <a:off x="609600" y="2000250"/>
            <a:ext cx="3286125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sp>
        <p:nvSpPr>
          <p:cNvPr id="8" name="Rectangle 8"/>
          <p:cNvSpPr/>
          <p:nvPr>
            <p:custDataLst>
              <p:tags r:id="rId2"/>
            </p:custDataLst>
          </p:nvPr>
        </p:nvSpPr>
        <p:spPr>
          <a:xfrm>
            <a:off x="609600" y="2000250"/>
            <a:ext cx="47625" cy="2381250"/>
          </a:xfrm>
          <a:prstGeom prst="roundRect">
            <a:avLst>
              <a:gd name="adj" fmla="val 50000"/>
            </a:avLst>
          </a:prstGeom>
          <a:solidFill>
            <a:srgbClr val="BF451E"/>
          </a:solidFill>
          <a:ln>
            <a:noFill/>
          </a:ln>
        </p:spPr>
      </p:sp>
      <p:sp>
        <p:nvSpPr>
          <p:cNvPr id="9" name="TextBox 9"/>
          <p:cNvSpPr txBox="1"/>
          <p:nvPr>
            <p:custDataLst>
              <p:tags r:id="rId3"/>
            </p:custDataLst>
          </p:nvPr>
        </p:nvSpPr>
        <p:spPr>
          <a:xfrm>
            <a:off x="830961" y="2184400"/>
            <a:ext cx="116144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信息入口分散</a:t>
            </a:r>
            <a:endParaRPr lang="zh-CN" sz="142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4"/>
            </p:custDataLst>
          </p:nvPr>
        </p:nvSpPr>
        <p:spPr>
          <a:xfrm>
            <a:off x="831850" y="2514600"/>
            <a:ext cx="2788285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通知在官网、公众号、群聊、办事大厅之间分散。</a:t>
            </a:r>
            <a:b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同一事项的名称、时间和材料常常不在同一处。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1"/>
          <p:cNvSpPr/>
          <p:nvPr>
            <p:custDataLst>
              <p:tags r:id="rId5"/>
            </p:custDataLst>
          </p:nvPr>
        </p:nvSpPr>
        <p:spPr>
          <a:xfrm>
            <a:off x="4191000" y="2000250"/>
            <a:ext cx="3286125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sp>
        <p:nvSpPr>
          <p:cNvPr id="12" name="Rectangle 12"/>
          <p:cNvSpPr/>
          <p:nvPr>
            <p:custDataLst>
              <p:tags r:id="rId6"/>
            </p:custDataLst>
          </p:nvPr>
        </p:nvSpPr>
        <p:spPr>
          <a:xfrm>
            <a:off x="4191000" y="2000250"/>
            <a:ext cx="47625" cy="2381250"/>
          </a:xfrm>
          <a:prstGeom prst="roundRect">
            <a:avLst>
              <a:gd name="adj" fmla="val 50000"/>
            </a:avLst>
          </a:prstGeom>
          <a:solidFill>
            <a:srgbClr val="39756B"/>
          </a:solidFill>
          <a:ln>
            <a:noFill/>
          </a:ln>
        </p:spPr>
      </p:sp>
      <p:sp>
        <p:nvSpPr>
          <p:cNvPr id="13" name="TextBox 13"/>
          <p:cNvSpPr txBox="1"/>
          <p:nvPr>
            <p:custDataLst>
              <p:tags r:id="rId7"/>
            </p:custDataLst>
          </p:nvPr>
        </p:nvSpPr>
        <p:spPr>
          <a:xfrm>
            <a:off x="4412361" y="2184400"/>
            <a:ext cx="970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理解成本高</a:t>
            </a:r>
            <a:endParaRPr lang="zh-CN" sz="142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8"/>
            </p:custDataLst>
          </p:nvPr>
        </p:nvSpPr>
        <p:spPr>
          <a:xfrm>
            <a:off x="4413250" y="2514600"/>
            <a:ext cx="2924175" cy="749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学生需要先判断自己属于哪类事项。</a:t>
            </a:r>
            <a:b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关键词不准确时，传统检索容易返回无关内容。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5"/>
          <p:cNvSpPr/>
          <p:nvPr>
            <p:custDataLst>
              <p:tags r:id="rId9"/>
            </p:custDataLst>
          </p:nvPr>
        </p:nvSpPr>
        <p:spPr>
          <a:xfrm>
            <a:off x="7772400" y="2000250"/>
            <a:ext cx="381000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sp>
        <p:nvSpPr>
          <p:cNvPr id="16" name="Rectangle 16"/>
          <p:cNvSpPr/>
          <p:nvPr>
            <p:custDataLst>
              <p:tags r:id="rId10"/>
            </p:custDataLst>
          </p:nvPr>
        </p:nvSpPr>
        <p:spPr>
          <a:xfrm>
            <a:off x="7772400" y="2000250"/>
            <a:ext cx="47625" cy="2381250"/>
          </a:xfrm>
          <a:prstGeom prst="roundRect">
            <a:avLst>
              <a:gd name="adj" fmla="val 50000"/>
            </a:avLst>
          </a:prstGeom>
          <a:solidFill>
            <a:srgbClr val="4D6989"/>
          </a:solidFill>
          <a:ln>
            <a:noFill/>
          </a:ln>
        </p:spPr>
      </p:sp>
      <p:sp>
        <p:nvSpPr>
          <p:cNvPr id="17" name="TextBox 17"/>
          <p:cNvSpPr txBox="1"/>
          <p:nvPr>
            <p:custDataLst>
              <p:tags r:id="rId11"/>
            </p:custDataLst>
          </p:nvPr>
        </p:nvSpPr>
        <p:spPr>
          <a:xfrm>
            <a:off x="7993761" y="2184400"/>
            <a:ext cx="154376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办理过程不可追溯</a:t>
            </a:r>
            <a:endParaRPr lang="zh-CN" sz="142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2"/>
            </p:custDataLst>
          </p:nvPr>
        </p:nvSpPr>
        <p:spPr>
          <a:xfrm>
            <a:off x="7994904" y="2514600"/>
            <a:ext cx="2755392" cy="4823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只给链接不能解决“下一步怎么办”。</a:t>
            </a:r>
            <a:b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问题、回答、来源与反馈需要形成闭环。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609600" y="4857750"/>
            <a:ext cx="10972800" cy="781050"/>
          </a:xfrm>
          <a:prstGeom prst="roundRect">
            <a:avLst>
              <a:gd name="adj" fmla="val 21951"/>
            </a:avLst>
          </a:prstGeom>
          <a:solidFill>
            <a:srgbClr val="F8EDE4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70204" y="516255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核心判断</a:t>
            </a:r>
            <a:endParaRPr lang="zh-CN" sz="120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991868" y="5111750"/>
            <a:ext cx="760337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校园服务的关键不是“再做一个搜索框”，而是提供可信、可继续的办事对话。</a:t>
            </a:r>
            <a:endParaRPr lang="zh-CN" sz="16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Line 22"/>
          <p:cNvSpPr/>
          <p:nvPr/>
        </p:nvSpPr>
        <p:spPr>
          <a:xfrm>
            <a:off x="609600" y="6438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5D2C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04266" y="6540500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苏州大学 · 软件工程开题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413806" y="6540500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sz="1050" b="1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ing"/>
          <p:cNvGrpSpPr/>
          <p:nvPr/>
        </p:nvGrpSpPr>
        <p:grpSpPr>
          <a:xfrm>
            <a:off x="596646" y="457200"/>
            <a:ext cx="7489203" cy="1022858"/>
            <a:chOff x="596646" y="457200"/>
            <a:chExt cx="7489203" cy="1022858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57200"/>
              <a:ext cx="9441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 / SCOPE</a:t>
              </a:r>
              <a:endParaRPr lang="en-US" sz="120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711200"/>
              <a:ext cx="66194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先把 4 个高频事项做完整，再扩展服务范围</a:t>
              </a:r>
              <a:endParaRPr lang="zh-CN" sz="25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2742" y="1216025"/>
              <a:ext cx="7483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开题目标：构建“能提问、会澄清、有依据、可反馈”的最小可行系统，而非万能聊天机器人。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9" name="scope"/>
          <p:cNvGrpSpPr/>
          <p:nvPr/>
        </p:nvGrpSpPr>
        <p:grpSpPr>
          <a:xfrm>
            <a:off x="609600" y="1771650"/>
            <a:ext cx="6934200" cy="4133850"/>
            <a:chOff x="609600" y="1771650"/>
            <a:chExt cx="6934200" cy="4133850"/>
          </a:xfrm>
        </p:grpSpPr>
        <p:sp>
          <p:nvSpPr>
            <p:cNvPr id="6" name="Rectangle 6"/>
            <p:cNvSpPr/>
            <p:nvPr/>
          </p:nvSpPr>
          <p:spPr>
            <a:xfrm>
              <a:off x="609600" y="1771650"/>
              <a:ext cx="6934200" cy="413385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9525">
              <a:solidFill>
                <a:srgbClr val="E5D2C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71650"/>
              <a:ext cx="76200" cy="4133850"/>
            </a:xfrm>
            <a:prstGeom prst="rect">
              <a:avLst/>
            </a:prstGeom>
            <a:solidFill>
              <a:srgbClr val="BF451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5637" y="1917700"/>
              <a:ext cx="244788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P0 · 第一阶段必须完成</a:t>
              </a:r>
              <a:endParaRPr lang="zh-CN" sz="172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780" y="2355850"/>
              <a:ext cx="14617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S01 学生证补办</a:t>
              </a:r>
              <a:endParaRPr lang="zh-CN" sz="15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542" y="265430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提取材料与步骤；每项结论可回到原始通知核验。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6780" y="3098800"/>
              <a:ext cx="14617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S02 校园卡补办</a:t>
              </a:r>
              <a:endParaRPr lang="zh-CN" sz="15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339725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识别事项、展示办理入口；不代替用户执行挂失或缴费。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6780" y="3841750"/>
              <a:ext cx="12598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S03 宿舍报修</a:t>
              </a:r>
              <a:endParaRPr lang="zh-CN" sz="15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7542" y="414020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按校区、区域与故障类型澄清，输出下一步行动。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6780" y="4584700"/>
              <a:ext cx="12598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S04 请假办理</a:t>
              </a:r>
              <a:endParaRPr lang="zh-CN" sz="15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542" y="488315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缺少类型、时长等关键参数时，先追问再给出流程。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914400" y="5286375"/>
              <a:ext cx="6305550" cy="9525"/>
            </a:xfrm>
            <a:custGeom>
              <a:avLst/>
              <a:gdLst/>
              <a:ahLst/>
              <a:cxnLst/>
              <a:rect l="l" t="t" r="r" b="b"/>
              <a:pathLst>
                <a:path w="6305550" h="9525">
                  <a:moveTo>
                    <a:pt x="0" y="0"/>
                  </a:moveTo>
                  <a:lnTo>
                    <a:pt x="630555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7923" y="5457825"/>
              <a:ext cx="425574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9756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完成标准：事项识别 → 来源检索 → 办事卡片 → 用户反馈</a:t>
              </a:r>
              <a:endParaRPr lang="zh-CN" sz="1280" b="1" dirty="0">
                <a:solidFill>
                  <a:srgbClr val="3975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1" name="boundaries"/>
          <p:cNvGrpSpPr/>
          <p:nvPr/>
        </p:nvGrpSpPr>
        <p:grpSpPr>
          <a:xfrm>
            <a:off x="7810500" y="1771650"/>
            <a:ext cx="3771900" cy="4133850"/>
            <a:chOff x="7810500" y="1771650"/>
            <a:chExt cx="3771900" cy="4133850"/>
          </a:xfrm>
        </p:grpSpPr>
        <p:sp>
          <p:nvSpPr>
            <p:cNvPr id="20" name="Rectangle 20"/>
            <p:cNvSpPr/>
            <p:nvPr/>
          </p:nvSpPr>
          <p:spPr>
            <a:xfrm>
              <a:off x="7810500" y="1771650"/>
              <a:ext cx="3771900" cy="1657350"/>
            </a:xfrm>
            <a:prstGeom prst="roundRect">
              <a:avLst>
                <a:gd name="adj" fmla="val 8046"/>
              </a:avLst>
            </a:prstGeom>
            <a:solidFill>
              <a:srgbClr val="F8EDE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49768" y="1930400"/>
              <a:ext cx="20268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P1 · P0 稳定后扩展</a:t>
              </a:r>
              <a:endParaRPr lang="zh-CN" sz="16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51292" y="236855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奖学金 / 助学金申请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51292" y="2711450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转专业咨询 / 毕业手续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52054" y="3057525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不以扩大数量替代准确率与稳定性。</a:t>
              </a:r>
              <a:endParaRPr lang="zh-CN" sz="1200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810500" y="3657600"/>
              <a:ext cx="3771900" cy="2247900"/>
            </a:xfrm>
            <a:prstGeom prst="roundRect">
              <a:avLst>
                <a:gd name="adj" fmla="val 5932"/>
              </a:avLst>
            </a:prstGeom>
            <a:solidFill>
              <a:srgbClr val="34241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49768" y="38354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明确不做</a:t>
              </a:r>
              <a:endParaRPr lang="zh-CN" sz="16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51292" y="42545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不自动提交真实申请、不进行缴费</a:t>
              </a:r>
              <a:endParaRPr lang="zh-CN" sz="135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51292" y="462597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不登录或抓取未经授权的内部系统</a:t>
              </a:r>
              <a:endParaRPr lang="zh-CN" sz="135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51292" y="49974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不保存账号密码等敏感资料</a:t>
              </a:r>
              <a:endParaRPr lang="zh-CN" sz="135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51292" y="536892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不自行训练大模型、不承诺政策审批</a:t>
              </a:r>
              <a:endParaRPr lang="zh-CN" sz="135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9600" y="6438900"/>
            <a:ext cx="10978134" cy="306959"/>
            <a:chOff x="609600" y="6438900"/>
            <a:chExt cx="10978134" cy="306959"/>
          </a:xfrm>
        </p:grpSpPr>
        <p:sp>
          <p:nvSpPr>
            <p:cNvPr id="32" name="Line 32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421580" y="65405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</a:t>
              </a:r>
              <a:endParaRPr lang="en-US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ing"/>
          <p:cNvGrpSpPr/>
          <p:nvPr/>
        </p:nvGrpSpPr>
        <p:grpSpPr>
          <a:xfrm>
            <a:off x="596646" y="457200"/>
            <a:ext cx="6416954" cy="1022858"/>
            <a:chOff x="596646" y="457200"/>
            <a:chExt cx="6416954" cy="1022858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57200"/>
              <a:ext cx="1589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 / USER JOURNEY</a:t>
              </a:r>
              <a:endParaRPr lang="en-US" sz="120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711200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三类问法，检验同一条可信服务链路</a:t>
              </a:r>
              <a:endParaRPr lang="zh-CN" sz="25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2742" y="1216025"/>
              <a:ext cx="64108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用标准提问、信息不全和无依据问题，覆盖“回答—追问—拒答”的核心产品行为。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" name="standard"/>
          <p:cNvGrpSpPr/>
          <p:nvPr/>
        </p:nvGrpSpPr>
        <p:grpSpPr>
          <a:xfrm>
            <a:off x="609600" y="1809750"/>
            <a:ext cx="3505200" cy="3638550"/>
            <a:chOff x="609600" y="1809750"/>
            <a:chExt cx="3505200" cy="3638550"/>
          </a:xfrm>
        </p:grpSpPr>
        <p:sp>
          <p:nvSpPr>
            <p:cNvPr id="6" name="Rectangle 6"/>
            <p:cNvSpPr/>
            <p:nvPr/>
          </p:nvSpPr>
          <p:spPr>
            <a:xfrm>
              <a:off x="609600" y="1809750"/>
              <a:ext cx="3505200" cy="3638550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9525">
              <a:solidFill>
                <a:srgbClr val="E5D2C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51154" y="2028825"/>
              <a:ext cx="963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 / 标准问题</a:t>
              </a:r>
              <a:endParaRPr lang="zh-CN" sz="120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8487" y="2432050"/>
              <a:ext cx="260042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“学生证丢了怎么补办？”</a:t>
              </a:r>
              <a:endParaRPr lang="zh-CN" sz="17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857250" y="291465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392" y="3111500"/>
              <a:ext cx="22743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识别 S01 → 检索已核验来源</a:t>
              </a:r>
              <a:endParaRPr lang="zh-CN" sz="13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0392" y="35115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输出：办理条件、材料、步骤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0392" y="386397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展示：地点、时间、原始通知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0392" y="42164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用户：查看依据并评价是否有帮助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57250" y="4714875"/>
              <a:ext cx="3009900" cy="457200"/>
            </a:xfrm>
            <a:prstGeom prst="roundRect">
              <a:avLst>
                <a:gd name="adj" fmla="val 14583"/>
              </a:avLst>
            </a:prstGeom>
            <a:solidFill>
              <a:srgbClr val="F8EDE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41273" y="4848225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验收：关键字段完整，引用可核验</a:t>
              </a:r>
              <a:endParaRPr lang="zh-CN" sz="128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7" name="clarify"/>
          <p:cNvGrpSpPr/>
          <p:nvPr/>
        </p:nvGrpSpPr>
        <p:grpSpPr>
          <a:xfrm>
            <a:off x="4343400" y="1809750"/>
            <a:ext cx="3505200" cy="3638550"/>
            <a:chOff x="4343400" y="1809750"/>
            <a:chExt cx="3505200" cy="3638550"/>
          </a:xfrm>
        </p:grpSpPr>
        <p:sp>
          <p:nvSpPr>
            <p:cNvPr id="17" name="Rectangle 17"/>
            <p:cNvSpPr/>
            <p:nvPr/>
          </p:nvSpPr>
          <p:spPr>
            <a:xfrm>
              <a:off x="4343400" y="1809750"/>
              <a:ext cx="3505200" cy="3638550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9525">
              <a:solidFill>
                <a:srgbClr val="E5D2C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84954" y="2028825"/>
              <a:ext cx="1124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9756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 / 信息不完整</a:t>
              </a:r>
              <a:endParaRPr lang="zh-CN" sz="1200" b="1" dirty="0">
                <a:solidFill>
                  <a:srgbClr val="3975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82287" y="2432050"/>
              <a:ext cx="14426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“我想请假。”</a:t>
              </a:r>
              <a:endParaRPr lang="zh-CN" sz="17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4591050" y="291465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84192" y="3111500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识别缺失参数 → 只问关键问题</a:t>
              </a:r>
              <a:endParaRPr lang="zh-CN" sz="13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84192" y="35115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示例：请假类型、时长、是否离校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84192" y="38639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用户补充后，继续原有会话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84192" y="42164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避免一次输出大量不相关流程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91050" y="4714875"/>
              <a:ext cx="3009900" cy="457200"/>
            </a:xfrm>
            <a:prstGeom prst="roundRect">
              <a:avLst>
                <a:gd name="adj" fmla="val 14583"/>
              </a:avLst>
            </a:prstGeom>
            <a:solidFill>
              <a:srgbClr val="EDF3E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775073" y="4848225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9756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验收：追问必要，历史上下文连续</a:t>
              </a:r>
              <a:endParaRPr lang="zh-CN" sz="1280" b="1" dirty="0">
                <a:solidFill>
                  <a:srgbClr val="3975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8" name="refuse"/>
          <p:cNvGrpSpPr/>
          <p:nvPr/>
        </p:nvGrpSpPr>
        <p:grpSpPr>
          <a:xfrm>
            <a:off x="8077200" y="1809750"/>
            <a:ext cx="3505200" cy="3638550"/>
            <a:chOff x="8077200" y="1809750"/>
            <a:chExt cx="3505200" cy="3638550"/>
          </a:xfrm>
        </p:grpSpPr>
        <p:sp>
          <p:nvSpPr>
            <p:cNvPr id="28" name="Rectangle 28"/>
            <p:cNvSpPr/>
            <p:nvPr/>
          </p:nvSpPr>
          <p:spPr>
            <a:xfrm>
              <a:off x="8077200" y="1809750"/>
              <a:ext cx="3505200" cy="3638550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9525">
              <a:solidFill>
                <a:srgbClr val="E5D2C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18754" y="2028825"/>
              <a:ext cx="1286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698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 / 缺少可靠依据</a:t>
              </a:r>
              <a:endParaRPr lang="zh-CN" sz="1200" b="1" dirty="0">
                <a:solidFill>
                  <a:srgbClr val="4D6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6468" y="2444750"/>
              <a:ext cx="27166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“明年一定新增哪些专业？”</a:t>
              </a:r>
              <a:endParaRPr lang="zh-CN" sz="16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8324850" y="291465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17992" y="3111500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无可靠来源 → 不输出确定结论</a:t>
              </a:r>
              <a:endParaRPr lang="zh-CN" sz="13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7992" y="35115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说明未找到依据，不编造专业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17992" y="386397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提示官方信息入口或咨询建议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17992" y="42164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保留失败原因，交给知识维护者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24850" y="4714875"/>
              <a:ext cx="3009900" cy="457200"/>
            </a:xfrm>
            <a:prstGeom prst="roundRect">
              <a:avLst>
                <a:gd name="adj" fmla="val 14583"/>
              </a:avLst>
            </a:prstGeom>
            <a:solidFill>
              <a:srgbClr val="EEF1F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08873" y="4848225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4D698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验收：拒答明确，不生成虚假政策</a:t>
              </a:r>
              <a:endParaRPr lang="zh-CN" sz="1280" b="1" dirty="0">
                <a:solidFill>
                  <a:srgbClr val="4D6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609600" y="5638800"/>
            <a:ext cx="10972800" cy="495300"/>
            <a:chOff x="609600" y="5638800"/>
            <a:chExt cx="10972800" cy="495300"/>
          </a:xfrm>
        </p:grpSpPr>
        <p:sp>
          <p:nvSpPr>
            <p:cNvPr id="39" name="Rectangle 39"/>
            <p:cNvSpPr/>
            <p:nvPr/>
          </p:nvSpPr>
          <p:spPr>
            <a:xfrm>
              <a:off x="609600" y="5638800"/>
              <a:ext cx="10972800" cy="495300"/>
            </a:xfrm>
            <a:prstGeom prst="roundRect">
              <a:avLst>
                <a:gd name="adj" fmla="val 15385"/>
              </a:avLst>
            </a:prstGeom>
            <a:solidFill>
              <a:srgbClr val="34241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0961" y="5775325"/>
              <a:ext cx="80623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所有场景统一展示：当前状态、下一步行动与依据；“不知道”也是需要设计和验证的产品结果。</a:t>
              </a:r>
              <a:endParaRPr lang="zh-CN" sz="142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609600" y="6438900"/>
            <a:ext cx="10978134" cy="306959"/>
            <a:chOff x="609600" y="6438900"/>
            <a:chExt cx="10978134" cy="306959"/>
          </a:xfrm>
        </p:grpSpPr>
        <p:sp>
          <p:nvSpPr>
            <p:cNvPr id="42" name="Line 42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421580" y="65405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</a:t>
              </a:r>
              <a:endParaRPr lang="en-US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457200"/>
            <a:ext cx="10400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· 总体架构</a:t>
            </a:r>
            <a:endParaRPr lang="zh-CN" sz="120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6646" y="711200"/>
            <a:ext cx="654824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三层服务架构：界面、业务服务与知识能力</a:t>
            </a:r>
            <a:endParaRPr lang="zh-CN" sz="25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3504" y="120015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依据仓库《校园办事小秘书实施方案》第五章总体架构图重绘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1714500"/>
            <a:ext cx="106680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5D2C5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83742" y="1863725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用户浏览器</a:t>
            </a:r>
            <a:endParaRPr lang="zh-CN" sz="135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82599" y="2209800"/>
            <a:ext cx="441401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</a:t>
            </a:r>
            <a:endParaRPr lang="zh-CN" sz="158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611374" y="2209800"/>
            <a:ext cx="441401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问答</a:t>
            </a:r>
            <a:endParaRPr lang="zh-CN" sz="158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240149" y="2209800"/>
            <a:ext cx="8668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办事卡片</a:t>
            </a:r>
            <a:endParaRPr lang="zh-CN" sz="158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288024" y="2209800"/>
            <a:ext cx="8668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信息来源</a:t>
            </a:r>
            <a:endParaRPr lang="zh-CN" sz="158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335899" y="2209800"/>
            <a:ext cx="86680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用户反馈</a:t>
            </a:r>
            <a:endParaRPr lang="zh-CN" sz="158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Line 12"/>
          <p:cNvSpPr/>
          <p:nvPr/>
        </p:nvSpPr>
        <p:spPr>
          <a:xfrm>
            <a:off x="6096000" y="2667000"/>
            <a:ext cx="1" cy="457200"/>
          </a:xfrm>
          <a:prstGeom prst="line">
            <a:avLst/>
          </a:prstGeom>
          <a:noFill/>
          <a:ln w="19050">
            <a:solidFill>
              <a:srgbClr val="765F52"/>
            </a:solidFill>
            <a:tailEnd type="triangle" w="lg" len="lg"/>
          </a:ln>
        </p:spPr>
      </p:sp>
      <p:sp>
        <p:nvSpPr>
          <p:cNvPr id="13" name="TextBox 13"/>
          <p:cNvSpPr txBox="1"/>
          <p:nvPr/>
        </p:nvSpPr>
        <p:spPr>
          <a:xfrm>
            <a:off x="6280785" y="2813050"/>
            <a:ext cx="10150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 / JSON</a:t>
            </a:r>
            <a:endParaRPr lang="en-US" sz="112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762000" y="3143250"/>
            <a:ext cx="10668000" cy="1104900"/>
          </a:xfrm>
          <a:prstGeom prst="roundRect">
            <a:avLst>
              <a:gd name="adj" fmla="val 6897"/>
            </a:avLst>
          </a:prstGeom>
          <a:solidFill>
            <a:srgbClr val="F8EDE4"/>
          </a:solidFill>
          <a:ln w="19050">
            <a:solidFill>
              <a:srgbClr val="D56B42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83742" y="3311525"/>
            <a:ext cx="15089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FastAPI 后端服务</a:t>
            </a:r>
            <a:endParaRPr lang="zh-CN" sz="135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82980" y="372745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会话管理</a:t>
            </a:r>
            <a:endParaRPr lang="zh-CN" sz="150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830830" y="372745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事项服务</a:t>
            </a:r>
            <a:endParaRPr lang="zh-CN" sz="150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678680" y="3727450"/>
            <a:ext cx="10731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适配</a:t>
            </a:r>
            <a:endParaRPr lang="zh-CN" sz="150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717030" y="37274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</a:t>
            </a:r>
            <a:endParaRPr lang="zh-CN" sz="150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412480" y="37274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endParaRPr lang="zh-CN" sz="150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Line 21"/>
          <p:cNvSpPr/>
          <p:nvPr/>
        </p:nvSpPr>
        <p:spPr>
          <a:xfrm flipH="1">
            <a:off x="3333750" y="4248150"/>
            <a:ext cx="809625" cy="514350"/>
          </a:xfrm>
          <a:prstGeom prst="line">
            <a:avLst/>
          </a:prstGeom>
          <a:noFill/>
          <a:ln w="19050">
            <a:solidFill>
              <a:srgbClr val="765F52"/>
            </a:solidFill>
            <a:tailEnd type="triangle" w="lg" len="lg"/>
          </a:ln>
        </p:spPr>
      </p:sp>
      <p:sp>
        <p:nvSpPr>
          <p:cNvPr id="22" name="Line 22"/>
          <p:cNvSpPr/>
          <p:nvPr/>
        </p:nvSpPr>
        <p:spPr>
          <a:xfrm>
            <a:off x="8048625" y="4248150"/>
            <a:ext cx="809625" cy="514350"/>
          </a:xfrm>
          <a:prstGeom prst="line">
            <a:avLst/>
          </a:prstGeom>
          <a:noFill/>
          <a:ln w="19050">
            <a:solidFill>
              <a:srgbClr val="765F52"/>
            </a:solidFill>
            <a:tailEnd type="triangle" w="lg" len="lg"/>
          </a:ln>
        </p:spPr>
      </p:sp>
      <p:sp>
        <p:nvSpPr>
          <p:cNvPr id="23" name="Rectangle 23"/>
          <p:cNvSpPr/>
          <p:nvPr/>
        </p:nvSpPr>
        <p:spPr>
          <a:xfrm>
            <a:off x="762000" y="4781550"/>
            <a:ext cx="4857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39756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83361" y="4946650"/>
            <a:ext cx="67537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3975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</a:t>
            </a:r>
            <a:endParaRPr lang="en-US" sz="1420" b="1" dirty="0">
              <a:solidFill>
                <a:srgbClr val="3975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83361" y="5318125"/>
            <a:ext cx="220326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事项 / 来源 / 会话 / 反馈</a:t>
            </a:r>
            <a:endParaRPr lang="zh-CN" sz="142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6572250" y="4781550"/>
            <a:ext cx="4857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4D6989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793611" y="4946650"/>
            <a:ext cx="16549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4D6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华为云 AgentArts</a:t>
            </a:r>
            <a:endParaRPr lang="zh-CN" sz="1420" b="1" dirty="0">
              <a:solidFill>
                <a:srgbClr val="4D6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793611" y="5318125"/>
            <a:ext cx="236953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意图识别 / 知识检索 / LLM</a:t>
            </a:r>
            <a:endParaRPr lang="zh-CN" sz="142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Line 29"/>
          <p:cNvSpPr/>
          <p:nvPr/>
        </p:nvSpPr>
        <p:spPr>
          <a:xfrm>
            <a:off x="9001125" y="5848350"/>
            <a:ext cx="1" cy="333375"/>
          </a:xfrm>
          <a:prstGeom prst="line">
            <a:avLst/>
          </a:prstGeom>
          <a:noFill/>
          <a:ln w="19050">
            <a:solidFill>
              <a:srgbClr val="765F52"/>
            </a:solidFill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9105900" y="6083935"/>
            <a:ext cx="21803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校园知识库：通知 / FAQ / 规则</a:t>
            </a:r>
            <a:endParaRPr lang="zh-CN" sz="112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Line 31"/>
          <p:cNvSpPr/>
          <p:nvPr/>
        </p:nvSpPr>
        <p:spPr>
          <a:xfrm>
            <a:off x="609600" y="6438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5D2C5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04266" y="6540500"/>
            <a:ext cx="42958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注：AgentArts 为方案目标架构，云端连通与效果需在后续阶段验证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21203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lang="en-US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457200"/>
            <a:ext cx="12015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· 数据库设计</a:t>
            </a:r>
            <a:endParaRPr lang="zh-CN" sz="120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6646" y="711200"/>
            <a:ext cx="414528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五张核心表，四条明确外键</a:t>
            </a:r>
            <a:endParaRPr lang="zh-CN" sz="25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3504" y="1200150"/>
            <a:ext cx="55450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 backend/app/models 现有 ORM 模型核对；较初始方案新增消息明细表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609600" y="1809750"/>
            <a:ext cx="29527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F451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12165" y="1936750"/>
            <a:ext cx="1389380" cy="278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service_items</a:t>
            </a:r>
            <a:endParaRPr lang="en-US" sz="142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12800" y="2276475"/>
            <a:ext cx="38608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 PK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2800" y="2533650"/>
            <a:ext cx="97282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UNIQUE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12800" y="2790825"/>
            <a:ext cx="206375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 · category · enabled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4070" y="3073400"/>
            <a:ext cx="71755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事项主数据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609600" y="4171950"/>
            <a:ext cx="29527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9756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12165" y="4298950"/>
            <a:ext cx="1821180" cy="278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3975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source_documents</a:t>
            </a:r>
            <a:endParaRPr lang="en-US" sz="1420" b="1" dirty="0">
              <a:solidFill>
                <a:srgbClr val="3975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12800" y="4638675"/>
            <a:ext cx="38608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 PK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12800" y="4895850"/>
            <a:ext cx="149352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service_item_id FK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12800" y="5153025"/>
            <a:ext cx="1466215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title · official_url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14070" y="5435600"/>
            <a:ext cx="1148715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status · version</a:t>
            </a:r>
            <a:endParaRPr lang="en-US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4408805" y="2759075"/>
            <a:ext cx="2952750" cy="1752600"/>
          </a:xfrm>
          <a:prstGeom prst="roundRect">
            <a:avLst>
              <a:gd name="adj" fmla="val 4348"/>
            </a:avLst>
          </a:prstGeom>
          <a:solidFill>
            <a:srgbClr val="F8EDE4"/>
          </a:solidFill>
          <a:ln w="19050">
            <a:solidFill>
              <a:srgbClr val="D56B4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717415" y="2870200"/>
            <a:ext cx="1399540" cy="278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conversations</a:t>
            </a:r>
            <a:endParaRPr lang="en-US" sz="142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718050" y="3209925"/>
            <a:ext cx="38608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 PK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718050" y="3467100"/>
            <a:ext cx="1983105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question · result_status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718050" y="3724275"/>
            <a:ext cx="221361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last_intent FK? → item.code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718050" y="3981450"/>
            <a:ext cx="1127125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session_token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719320" y="4235450"/>
            <a:ext cx="85852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一次咨询会话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4"/>
          <p:cNvSpPr/>
          <p:nvPr/>
        </p:nvSpPr>
        <p:spPr>
          <a:xfrm>
            <a:off x="8420100" y="1809750"/>
            <a:ext cx="31623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4D6989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622665" y="1949450"/>
            <a:ext cx="2207895" cy="264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D6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conversation_messages</a:t>
            </a:r>
            <a:endParaRPr lang="en-US" sz="1350" b="1" dirty="0">
              <a:solidFill>
                <a:srgbClr val="4D6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623300" y="2276475"/>
            <a:ext cx="206248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 PK · conversation_id FK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623300" y="2533650"/>
            <a:ext cx="1853565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role · content · status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623300" y="2790825"/>
            <a:ext cx="219329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answer_json · sources_json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623300" y="3048000"/>
            <a:ext cx="90043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created_at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624570" y="3302000"/>
            <a:ext cx="185801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CASCADE：会话删除同步清理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8420100" y="4171950"/>
            <a:ext cx="31623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0794B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622665" y="4298950"/>
            <a:ext cx="897890" cy="278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5079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feedback</a:t>
            </a:r>
            <a:endParaRPr lang="en-US" sz="1420" b="1" dirty="0">
              <a:solidFill>
                <a:srgbClr val="5079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623300" y="4638675"/>
            <a:ext cx="206248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 PK · conversation_id FK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623300" y="4895850"/>
            <a:ext cx="1716405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helpful · reason_code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623300" y="5153025"/>
            <a:ext cx="698500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comment</a:t>
            </a:r>
            <a:endParaRPr lang="en-US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624570" y="5435600"/>
            <a:ext cx="2044065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RESTRICT：保留反馈关联完整性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Line 38"/>
          <p:cNvSpPr/>
          <p:nvPr/>
        </p:nvSpPr>
        <p:spPr>
          <a:xfrm>
            <a:off x="2085975" y="3333750"/>
            <a:ext cx="1" cy="838200"/>
          </a:xfrm>
          <a:prstGeom prst="line">
            <a:avLst/>
          </a:prstGeom>
          <a:noFill/>
          <a:ln w="19050">
            <a:solidFill>
              <a:srgbClr val="765F52"/>
            </a:solidFill>
            <a:tailEnd type="triangle" w="lg" len="lg"/>
          </a:ln>
        </p:spPr>
      </p:sp>
      <p:sp>
        <p:nvSpPr>
          <p:cNvPr id="39" name="TextBox 39"/>
          <p:cNvSpPr txBox="1"/>
          <p:nvPr/>
        </p:nvSpPr>
        <p:spPr>
          <a:xfrm>
            <a:off x="2194941" y="3663950"/>
            <a:ext cx="109907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service_item_id</a:t>
            </a:r>
            <a:endParaRPr lang="en-US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Line 40"/>
          <p:cNvSpPr/>
          <p:nvPr/>
        </p:nvSpPr>
        <p:spPr>
          <a:xfrm flipH="1" flipV="1">
            <a:off x="3562350" y="2686050"/>
            <a:ext cx="829310" cy="463550"/>
          </a:xfrm>
          <a:prstGeom prst="line">
            <a:avLst/>
          </a:prstGeom>
          <a:noFill/>
          <a:ln w="19050">
            <a:solidFill>
              <a:srgbClr val="765F52"/>
            </a:solidFill>
            <a:tailEnd type="triangle" w="lg" len="lg"/>
          </a:ln>
        </p:spPr>
      </p:sp>
      <p:sp>
        <p:nvSpPr>
          <p:cNvPr id="41" name="TextBox 41"/>
          <p:cNvSpPr txBox="1"/>
          <p:nvPr/>
        </p:nvSpPr>
        <p:spPr>
          <a:xfrm rot="1800000">
            <a:off x="3649091" y="2663825"/>
            <a:ext cx="8729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last_intent?</a:t>
            </a:r>
            <a:endParaRPr lang="en-US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Line 42"/>
          <p:cNvSpPr/>
          <p:nvPr/>
        </p:nvSpPr>
        <p:spPr>
          <a:xfrm flipV="1">
            <a:off x="7362190" y="2686050"/>
            <a:ext cx="1057910" cy="586105"/>
          </a:xfrm>
          <a:prstGeom prst="line">
            <a:avLst/>
          </a:prstGeom>
          <a:noFill/>
          <a:ln w="19050">
            <a:solidFill>
              <a:srgbClr val="765F52"/>
            </a:solidFill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 rot="19800000">
            <a:off x="7347966" y="2680970"/>
            <a:ext cx="11061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conversation_id</a:t>
            </a:r>
            <a:endParaRPr lang="en-US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Line 44"/>
          <p:cNvSpPr/>
          <p:nvPr/>
        </p:nvSpPr>
        <p:spPr>
          <a:xfrm>
            <a:off x="7344410" y="3862705"/>
            <a:ext cx="1075690" cy="995045"/>
          </a:xfrm>
          <a:prstGeom prst="line">
            <a:avLst/>
          </a:prstGeom>
          <a:noFill/>
          <a:ln w="19050">
            <a:solidFill>
              <a:srgbClr val="765F52"/>
            </a:solidFill>
            <a:tailEnd type="triangle" w="lg" len="lg"/>
          </a:ln>
        </p:spPr>
      </p:sp>
      <p:sp>
        <p:nvSpPr>
          <p:cNvPr id="45" name="TextBox 45"/>
          <p:cNvSpPr txBox="1"/>
          <p:nvPr/>
        </p:nvSpPr>
        <p:spPr>
          <a:xfrm rot="2580000">
            <a:off x="7403846" y="4083685"/>
            <a:ext cx="11061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conversation_id</a:t>
            </a:r>
            <a:endParaRPr lang="en-US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Line 46"/>
          <p:cNvSpPr/>
          <p:nvPr/>
        </p:nvSpPr>
        <p:spPr>
          <a:xfrm>
            <a:off x="609600" y="6438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5D2C5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04266" y="6540500"/>
            <a:ext cx="49579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现有代码模型：5 表 / 4 外键 · 数据库层确保事项来源、会话消息和反馈可追溯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121203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lang="en-US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667750" y="-2857500"/>
            <a:ext cx="4762500" cy="4762500"/>
          </a:xfrm>
          <a:prstGeom prst="ellipse">
            <a:avLst/>
          </a:prstGeom>
          <a:solidFill>
            <a:srgbClr val="BF451E">
              <a:alpha val="7000"/>
            </a:srgb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1714500" y="4905375"/>
            <a:ext cx="4191000" cy="4191000"/>
          </a:xfrm>
          <a:prstGeom prst="ellipse">
            <a:avLst/>
          </a:prstGeom>
          <a:solidFill>
            <a:srgbClr val="39756B">
              <a:alpha val="5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4266" y="482600"/>
            <a:ext cx="7712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FLOW</a:t>
            </a:r>
            <a:endParaRPr lang="en-US" sz="105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6646" y="711200"/>
            <a:ext cx="208559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核心业务流程</a:t>
            </a:r>
            <a:endParaRPr lang="zh-CN" sz="25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3504" y="1200150"/>
            <a:ext cx="43496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一次问答由“输入 → 识别 → 召回 → 生成 → 校验 → 呈现”组成。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Line 7"/>
          <p:cNvSpPr/>
          <p:nvPr/>
        </p:nvSpPr>
        <p:spPr>
          <a:xfrm>
            <a:off x="1047750" y="3238500"/>
            <a:ext cx="10001250" cy="9525"/>
          </a:xfrm>
          <a:custGeom>
            <a:avLst/>
            <a:gdLst/>
            <a:ahLst/>
            <a:cxnLst/>
            <a:rect l="l" t="t" r="r" b="b"/>
            <a:pathLst>
              <a:path w="10001250" h="952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/>
          <a:ln w="38100">
            <a:solidFill>
              <a:srgbClr val="E5D2C5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085850" y="2990850"/>
            <a:ext cx="495300" cy="495300"/>
          </a:xfrm>
          <a:prstGeom prst="ellipse">
            <a:avLst/>
          </a:prstGeom>
          <a:solidFill>
            <a:srgbClr val="BF451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74165" y="3149600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9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sz="1350" b="1" dirty="0">
              <a:solidFill>
                <a:srgbClr val="FFF9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4316" y="365760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学生提问</a:t>
            </a:r>
            <a:endParaRPr lang="zh-CN" sz="120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lipse 11"/>
          <p:cNvSpPr/>
          <p:nvPr/>
        </p:nvSpPr>
        <p:spPr>
          <a:xfrm>
            <a:off x="3086100" y="2990850"/>
            <a:ext cx="495300" cy="495300"/>
          </a:xfrm>
          <a:prstGeom prst="ellipse">
            <a:avLst/>
          </a:prstGeom>
          <a:solidFill>
            <a:srgbClr val="39756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274415" y="3149600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9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1350" b="1" dirty="0">
              <a:solidFill>
                <a:srgbClr val="FFF9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04566" y="365760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意图识别</a:t>
            </a:r>
            <a:endParaRPr lang="zh-CN" sz="120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lipse 14"/>
          <p:cNvSpPr/>
          <p:nvPr/>
        </p:nvSpPr>
        <p:spPr>
          <a:xfrm>
            <a:off x="5086350" y="2990850"/>
            <a:ext cx="495300" cy="495300"/>
          </a:xfrm>
          <a:prstGeom prst="ellipse">
            <a:avLst/>
          </a:prstGeom>
          <a:solidFill>
            <a:srgbClr val="4D698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274665" y="3149600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9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1350" b="1" dirty="0">
              <a:solidFill>
                <a:srgbClr val="FFF9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004816" y="365760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知识召回</a:t>
            </a:r>
            <a:endParaRPr lang="zh-CN" sz="120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lipse 17"/>
          <p:cNvSpPr/>
          <p:nvPr/>
        </p:nvSpPr>
        <p:spPr>
          <a:xfrm>
            <a:off x="7086600" y="2990850"/>
            <a:ext cx="495300" cy="495300"/>
          </a:xfrm>
          <a:prstGeom prst="ellipse">
            <a:avLst/>
          </a:prstGeom>
          <a:solidFill>
            <a:srgbClr val="92662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274915" y="3149600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9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sz="1350" b="1" dirty="0">
              <a:solidFill>
                <a:srgbClr val="FFF9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005066" y="365760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模型生成</a:t>
            </a:r>
            <a:endParaRPr lang="zh-CN" sz="120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lipse 20"/>
          <p:cNvSpPr/>
          <p:nvPr/>
        </p:nvSpPr>
        <p:spPr>
          <a:xfrm>
            <a:off x="9086850" y="2990850"/>
            <a:ext cx="495300" cy="495300"/>
          </a:xfrm>
          <a:prstGeom prst="ellipse">
            <a:avLst/>
          </a:prstGeom>
          <a:solidFill>
            <a:srgbClr val="50794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275165" y="3149600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9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lang="en-US" sz="1350" b="1" dirty="0">
              <a:solidFill>
                <a:srgbClr val="FFF9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005316" y="365760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来源校验</a:t>
            </a:r>
            <a:endParaRPr lang="zh-CN" sz="120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lipse 23"/>
          <p:cNvSpPr/>
          <p:nvPr/>
        </p:nvSpPr>
        <p:spPr>
          <a:xfrm>
            <a:off x="10801350" y="2990850"/>
            <a:ext cx="495300" cy="495300"/>
          </a:xfrm>
          <a:prstGeom prst="ellipse">
            <a:avLst/>
          </a:prstGeom>
          <a:solidFill>
            <a:srgbClr val="BF451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989665" y="3149600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9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lang="en-US" sz="1350" b="1" dirty="0">
              <a:solidFill>
                <a:srgbClr val="FFF9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639044" y="365760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结构化呈现</a:t>
            </a:r>
            <a:endParaRPr lang="zh-CN" sz="120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819150" y="2095500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F8EDE4"/>
          </a:solidFill>
          <a:ln w="9525">
            <a:solidFill>
              <a:srgbClr val="E5D2C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290070" y="2174875"/>
            <a:ext cx="1248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不清楚 → 澄清问题</a:t>
            </a:r>
            <a:endParaRPr lang="zh-CN" sz="112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8"/>
          <p:cNvSpPr/>
          <p:nvPr/>
        </p:nvSpPr>
        <p:spPr>
          <a:xfrm>
            <a:off x="3429000" y="2095500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F8EDE4"/>
          </a:solidFill>
          <a:ln w="9525">
            <a:solidFill>
              <a:srgbClr val="E5D2C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3899920" y="2174875"/>
            <a:ext cx="1248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9266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无依据 → 证据不足</a:t>
            </a:r>
            <a:endParaRPr lang="zh-CN" sz="1120" b="1" dirty="0">
              <a:solidFill>
                <a:srgbClr val="9266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6038850" y="2095500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F8EDE4"/>
          </a:solidFill>
          <a:ln w="9525">
            <a:solidFill>
              <a:srgbClr val="E5D2C5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509770" y="2174875"/>
            <a:ext cx="1248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AA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服务异常 → 可重试</a:t>
            </a:r>
            <a:endParaRPr lang="zh-CN" sz="1120" b="1" dirty="0">
              <a:solidFill>
                <a:srgbClr val="AA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8648700" y="2095500"/>
            <a:ext cx="2724150" cy="323850"/>
          </a:xfrm>
          <a:prstGeom prst="roundRect">
            <a:avLst>
              <a:gd name="adj" fmla="val 50000"/>
            </a:avLst>
          </a:prstGeom>
          <a:solidFill>
            <a:srgbClr val="F8EDE4"/>
          </a:solidFill>
          <a:ln w="9525">
            <a:solidFill>
              <a:srgbClr val="E5D2C5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235545" y="2174875"/>
            <a:ext cx="155046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3975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历史入口 → 加载并续接</a:t>
            </a:r>
            <a:endParaRPr lang="zh-CN" sz="1120" b="1" dirty="0">
              <a:solidFill>
                <a:srgbClr val="3975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819150" y="4762500"/>
            <a:ext cx="105537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097661" y="5013325"/>
            <a:ext cx="938133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输出不是一段散文，而是一张可执行的办事卡片：条件、材料、步骤、地点、截止时间、联系方式和风险提示。</a:t>
            </a:r>
            <a:endParaRPr lang="zh-CN" sz="142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Line 36"/>
          <p:cNvSpPr/>
          <p:nvPr/>
        </p:nvSpPr>
        <p:spPr>
          <a:xfrm>
            <a:off x="609600" y="6438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5D2C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04266" y="6540500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苏州大学 · 软件工程开题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1413806" y="6540500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lang="en-US" sz="1050" b="1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667750" y="-2857500"/>
            <a:ext cx="4762500" cy="4762500"/>
          </a:xfrm>
          <a:prstGeom prst="ellipse">
            <a:avLst/>
          </a:prstGeom>
          <a:solidFill>
            <a:srgbClr val="BF451E">
              <a:alpha val="7000"/>
            </a:srgb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1714500" y="4905375"/>
            <a:ext cx="4191000" cy="4191000"/>
          </a:xfrm>
          <a:prstGeom prst="ellipse">
            <a:avLst/>
          </a:prstGeom>
          <a:solidFill>
            <a:srgbClr val="39756B">
              <a:alpha val="5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4266" y="482600"/>
            <a:ext cx="7085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TECH</a:t>
            </a:r>
            <a:endParaRPr lang="en-US" sz="105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6646" y="711200"/>
            <a:ext cx="517512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技术方案：轻量、可运行、可验证</a:t>
            </a:r>
            <a:endParaRPr lang="zh-CN" sz="25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3504" y="1200150"/>
            <a:ext cx="41309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以成熟 Web 技术搭建最小闭环，同时保留后续扩展空间。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609600" y="1905000"/>
            <a:ext cx="2476500" cy="20002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09600" y="1905000"/>
            <a:ext cx="47625" cy="2000250"/>
          </a:xfrm>
          <a:prstGeom prst="roundRect">
            <a:avLst>
              <a:gd name="adj" fmla="val 50000"/>
            </a:avLst>
          </a:prstGeom>
          <a:solidFill>
            <a:srgbClr val="BF451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30961" y="2089150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</a:t>
            </a:r>
            <a:endParaRPr lang="zh-CN" sz="142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32104" y="2419350"/>
            <a:ext cx="1536192" cy="977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3 + TypeScript</a:t>
            </a:r>
            <a:br>
              <a:rPr lang="en-US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Vite + Vue Router</a:t>
            </a:r>
            <a:br>
              <a:rPr lang="en-US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响应式页面与主题切换</a:t>
            </a:r>
            <a:b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前端组件与状态测试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3333750" y="1905000"/>
            <a:ext cx="2476500" cy="20002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3333750" y="1905000"/>
            <a:ext cx="47625" cy="2000250"/>
          </a:xfrm>
          <a:prstGeom prst="roundRect">
            <a:avLst>
              <a:gd name="adj" fmla="val 50000"/>
            </a:avLst>
          </a:prstGeom>
          <a:solidFill>
            <a:srgbClr val="39756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55111" y="2089150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</a:t>
            </a:r>
            <a:endParaRPr lang="zh-CN" sz="142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556254" y="2419350"/>
            <a:ext cx="1383792" cy="977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FastAPI + Pydantic</a:t>
            </a:r>
            <a:br>
              <a:rPr lang="en-US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SQLAlchemy 2 ORM</a:t>
            </a:r>
            <a:br>
              <a:rPr lang="en-US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Alembic 数据库迁移</a:t>
            </a:r>
            <a:b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统一错误和状态枚举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057900" y="1905000"/>
            <a:ext cx="2476500" cy="20002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057900" y="1905000"/>
            <a:ext cx="47625" cy="2000250"/>
          </a:xfrm>
          <a:prstGeom prst="roundRect">
            <a:avLst>
              <a:gd name="adj" fmla="val 50000"/>
            </a:avLst>
          </a:prstGeom>
          <a:solidFill>
            <a:srgbClr val="4D698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279261" y="2089150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lang="zh-CN" sz="142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280404" y="2419350"/>
            <a:ext cx="1383792" cy="977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 8.x</a:t>
            </a:r>
            <a:br>
              <a:rPr lang="en-US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张核心业务表</a:t>
            </a:r>
            <a:b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官方来源与版本状态</a:t>
            </a:r>
            <a:b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匿名会话隔离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8782050" y="1905000"/>
            <a:ext cx="2800350" cy="20002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782050" y="1905000"/>
            <a:ext cx="47625" cy="2000250"/>
          </a:xfrm>
          <a:prstGeom prst="roundRect">
            <a:avLst>
              <a:gd name="adj" fmla="val 50000"/>
            </a:avLst>
          </a:prstGeom>
          <a:solidFill>
            <a:srgbClr val="92662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003411" y="2089150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智能问答</a:t>
            </a:r>
            <a:endParaRPr lang="zh-CN" sz="142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004554" y="2419350"/>
            <a:ext cx="1574292" cy="977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意图识别与知识召回</a:t>
            </a:r>
            <a:b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AgentArts / LLM 接口</a:t>
            </a:r>
            <a:b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结构化回答卡片</a:t>
            </a:r>
            <a:b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兜底与服务异常处理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09600" y="4495800"/>
            <a:ext cx="10972800" cy="895350"/>
          </a:xfrm>
          <a:prstGeom prst="roundRect">
            <a:avLst>
              <a:gd name="adj" fmla="val 19149"/>
            </a:avLst>
          </a:prstGeom>
          <a:solidFill>
            <a:srgbClr val="F8EDE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08304" y="470535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工程化底线</a:t>
            </a:r>
            <a:endParaRPr lang="zh-CN" sz="120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201799" y="4667250"/>
            <a:ext cx="7460488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先定义接口契约，再实现页面和服务；每次迁移可回滚，每个关键状态可测试。</a:t>
            </a:r>
            <a:endParaRPr lang="zh-CN" sz="158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08304" y="5067300"/>
            <a:ext cx="5181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验证范围：类型检查、前端测试与生产构建；不代表云端问答质量已达标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609600" y="6438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5D2C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04266" y="6540500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苏州大学 · 软件工程开题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413806" y="6540500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lang="en-US" sz="1050" b="1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667750" y="-2857500"/>
            <a:ext cx="4762500" cy="4762500"/>
          </a:xfrm>
          <a:prstGeom prst="ellipse">
            <a:avLst/>
          </a:prstGeom>
          <a:solidFill>
            <a:srgbClr val="BF451E">
              <a:alpha val="7000"/>
            </a:srgb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1714500" y="4905375"/>
            <a:ext cx="4191000" cy="4191000"/>
          </a:xfrm>
          <a:prstGeom prst="ellipse">
            <a:avLst/>
          </a:prstGeom>
          <a:solidFill>
            <a:srgbClr val="39756B">
              <a:alpha val="5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4266" y="482600"/>
            <a:ext cx="12024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KNOWLEDGE</a:t>
            </a:r>
            <a:endParaRPr lang="en-US" sz="105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6646" y="711200"/>
            <a:ext cx="2772156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知识库与回答机制</a:t>
            </a:r>
            <a:endParaRPr lang="zh-CN" sz="25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3504" y="1200150"/>
            <a:ext cx="39054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可信回答的核心是“模型负责表达，数据库负责边界”。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704850" y="2000250"/>
            <a:ext cx="2952750" cy="295275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728597" y="217805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来源文档</a:t>
            </a:r>
            <a:endParaRPr lang="zh-CN" sz="16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43177" y="2667000"/>
            <a:ext cx="167609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 / 发布部门 / 日期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36065" y="2990850"/>
            <a:ext cx="1490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生效区间 / 适用人群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9124" y="3314700"/>
            <a:ext cx="252420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状态：draft / verified / expired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25931" y="3638550"/>
            <a:ext cx="15105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 URL + 原文内容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Line 13"/>
          <p:cNvSpPr/>
          <p:nvPr/>
        </p:nvSpPr>
        <p:spPr>
          <a:xfrm>
            <a:off x="3657600" y="3429000"/>
            <a:ext cx="819150" cy="9525"/>
          </a:xfrm>
          <a:custGeom>
            <a:avLst/>
            <a:gdLst/>
            <a:ahLst/>
            <a:cxnLst/>
            <a:rect l="l" t="t" r="r" b="b"/>
            <a:pathLst>
              <a:path w="819150" h="9525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/>
          <a:ln w="28575">
            <a:solidFill>
              <a:srgbClr val="39756B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4381500" y="3362325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</a:path>
            </a:pathLst>
          </a:custGeom>
          <a:noFill/>
          <a:ln w="28575">
            <a:solidFill>
              <a:srgbClr val="39756B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476750" y="2000250"/>
            <a:ext cx="2952750" cy="295275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500497" y="217805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回答生成</a:t>
            </a:r>
            <a:endParaRPr lang="zh-CN" sz="16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220081" y="266700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匹配事项与用户问题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62397" y="299085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召回可用来源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381625" y="331470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生成结构化字段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220081" y="363855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保留警告与不确定性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Line 21"/>
          <p:cNvSpPr/>
          <p:nvPr/>
        </p:nvSpPr>
        <p:spPr>
          <a:xfrm>
            <a:off x="7429500" y="3429000"/>
            <a:ext cx="819150" cy="9525"/>
          </a:xfrm>
          <a:custGeom>
            <a:avLst/>
            <a:gdLst/>
            <a:ahLst/>
            <a:cxnLst/>
            <a:rect l="l" t="t" r="r" b="b"/>
            <a:pathLst>
              <a:path w="819150" h="9525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/>
          <a:ln w="28575">
            <a:solidFill>
              <a:srgbClr val="BF451E"/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8153400" y="3362325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</a:path>
            </a:pathLst>
          </a:custGeom>
          <a:noFill/>
          <a:ln w="28575">
            <a:solidFill>
              <a:srgbClr val="BF451E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248650" y="2000250"/>
            <a:ext cx="3238500" cy="295275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193149" y="2178050"/>
            <a:ext cx="134950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前端办事卡片</a:t>
            </a:r>
            <a:endParaRPr lang="zh-CN" sz="16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8705850" y="2743200"/>
            <a:ext cx="2324100" cy="323850"/>
          </a:xfrm>
          <a:prstGeom prst="roundRect">
            <a:avLst>
              <a:gd name="adj" fmla="val 50000"/>
            </a:avLst>
          </a:prstGeom>
          <a:solidFill>
            <a:srgbClr val="F8EDE4"/>
          </a:solidFill>
          <a:ln w="9525">
            <a:solidFill>
              <a:srgbClr val="E5D2C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227802" y="2822575"/>
            <a:ext cx="12801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 / 材料 / 步骤</a:t>
            </a:r>
            <a:endParaRPr lang="zh-CN" sz="112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8705850" y="3181350"/>
            <a:ext cx="2324100" cy="323850"/>
          </a:xfrm>
          <a:prstGeom prst="roundRect">
            <a:avLst>
              <a:gd name="adj" fmla="val 50000"/>
            </a:avLst>
          </a:prstGeom>
          <a:solidFill>
            <a:srgbClr val="F8EDE4"/>
          </a:solidFill>
          <a:ln w="9525">
            <a:solidFill>
              <a:srgbClr val="E5D2C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318832" y="3260725"/>
            <a:ext cx="10981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3975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地点 / 截止时间</a:t>
            </a:r>
            <a:endParaRPr lang="zh-CN" sz="1120" b="1" dirty="0">
              <a:solidFill>
                <a:srgbClr val="3975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9"/>
          <p:cNvSpPr/>
          <p:nvPr/>
        </p:nvSpPr>
        <p:spPr>
          <a:xfrm>
            <a:off x="8705850" y="3619500"/>
            <a:ext cx="2324100" cy="323850"/>
          </a:xfrm>
          <a:prstGeom prst="roundRect">
            <a:avLst>
              <a:gd name="adj" fmla="val 50000"/>
            </a:avLst>
          </a:prstGeom>
          <a:solidFill>
            <a:srgbClr val="F8EDE4"/>
          </a:solidFill>
          <a:ln w="9525">
            <a:solidFill>
              <a:srgbClr val="E5D2C5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77027" y="3698875"/>
            <a:ext cx="15817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4D6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 / 反馈 / 继续追问</a:t>
            </a:r>
            <a:endParaRPr lang="zh-CN" sz="1120" b="1" dirty="0">
              <a:solidFill>
                <a:srgbClr val="4D6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98373" y="5372100"/>
            <a:ext cx="7332381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约束逻辑：来源状态、有效日期、事项映射和安全 URL 校验共同决定“能不能回答、如何提醒”。</a:t>
            </a:r>
            <a:endParaRPr lang="zh-CN" sz="128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Line 32"/>
          <p:cNvSpPr/>
          <p:nvPr/>
        </p:nvSpPr>
        <p:spPr>
          <a:xfrm>
            <a:off x="609600" y="6438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5D2C5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04266" y="6540500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苏州大学 · 软件工程开题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413806" y="6540500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lang="en-US" sz="1050" b="1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504" y="457200"/>
            <a:ext cx="15246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· 最小可运行原型</a:t>
            </a:r>
            <a:endParaRPr lang="zh-CN" sz="120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6646" y="711200"/>
            <a:ext cx="6204966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已完成首页交互界面，进入关键链路验证</a:t>
            </a:r>
            <a:endParaRPr lang="zh-CN" sz="25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3504" y="1200150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以下为本地运行实景截图，不使用概念效果图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609600" y="1657350"/>
            <a:ext cx="8096250" cy="455295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9050">
            <a:solidFill>
              <a:srgbClr val="E5D2C5"/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245" y="1771650"/>
            <a:ext cx="6918960" cy="4324350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8972550" y="1657350"/>
            <a:ext cx="2609850" cy="455295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193911" y="1870075"/>
            <a:ext cx="116144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当前可见能力</a:t>
            </a:r>
            <a:endParaRPr lang="zh-CN" sz="142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lipse 9"/>
          <p:cNvSpPr/>
          <p:nvPr/>
        </p:nvSpPr>
        <p:spPr>
          <a:xfrm>
            <a:off x="9239250" y="2362200"/>
            <a:ext cx="95250" cy="95250"/>
          </a:xfrm>
          <a:prstGeom prst="ellipse">
            <a:avLst/>
          </a:prstGeom>
          <a:solidFill>
            <a:srgbClr val="BF451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433179" y="231457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首页与侧边导航</a:t>
            </a:r>
            <a:endParaRPr lang="zh-CN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lipse 11"/>
          <p:cNvSpPr/>
          <p:nvPr/>
        </p:nvSpPr>
        <p:spPr>
          <a:xfrm>
            <a:off x="9239250" y="2724150"/>
            <a:ext cx="95250" cy="95250"/>
          </a:xfrm>
          <a:prstGeom prst="ellipse">
            <a:avLst/>
          </a:prstGeom>
          <a:solidFill>
            <a:srgbClr val="BF451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433179" y="267652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自然语言咨询入口</a:t>
            </a:r>
            <a:endParaRPr lang="zh-CN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lipse 13"/>
          <p:cNvSpPr/>
          <p:nvPr/>
        </p:nvSpPr>
        <p:spPr>
          <a:xfrm>
            <a:off x="9239250" y="3086100"/>
            <a:ext cx="95250" cy="95250"/>
          </a:xfrm>
          <a:prstGeom prst="ellipse">
            <a:avLst/>
          </a:prstGeom>
          <a:solidFill>
            <a:srgbClr val="BF451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433179" y="303847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推荐问题与事项入口</a:t>
            </a:r>
            <a:endParaRPr lang="zh-CN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lipse 15"/>
          <p:cNvSpPr/>
          <p:nvPr/>
        </p:nvSpPr>
        <p:spPr>
          <a:xfrm>
            <a:off x="9239250" y="3448050"/>
            <a:ext cx="95250" cy="95250"/>
          </a:xfrm>
          <a:prstGeom prst="ellipse">
            <a:avLst/>
          </a:prstGeom>
          <a:solidFill>
            <a:srgbClr val="BF451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433179" y="340042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角色动效与状态反馈</a:t>
            </a:r>
            <a:endParaRPr lang="zh-CN" sz="1200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Line 17"/>
          <p:cNvSpPr/>
          <p:nvPr/>
        </p:nvSpPr>
        <p:spPr>
          <a:xfrm>
            <a:off x="9201150" y="3857625"/>
            <a:ext cx="2152650" cy="9525"/>
          </a:xfrm>
          <a:custGeom>
            <a:avLst/>
            <a:gdLst/>
            <a:ahLst/>
            <a:cxnLst/>
            <a:rect l="l" t="t" r="r" b="b"/>
            <a:pathLst>
              <a:path w="2152650" h="9525">
                <a:moveTo>
                  <a:pt x="0" y="0"/>
                </a:moveTo>
                <a:lnTo>
                  <a:pt x="2152650" y="0"/>
                </a:lnTo>
              </a:path>
            </a:pathLst>
          </a:custGeom>
          <a:noFill/>
          <a:ln w="9525">
            <a:solidFill>
              <a:srgbClr val="E5D2C5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193911" y="4070350"/>
            <a:ext cx="116144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后续验证重点</a:t>
            </a:r>
            <a:endParaRPr lang="zh-CN" sz="142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195054" y="4438650"/>
            <a:ext cx="1110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29540" indent="-129540" algn="l">
              <a:buClr>
                <a:srgbClr val="765F52"/>
              </a:buClr>
              <a:buSzTx/>
              <a:buFontTx/>
              <a:buChar char="•"/>
            </a:pP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后端接口联调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195054" y="4781550"/>
            <a:ext cx="15866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29540" indent="-129540" algn="l">
              <a:buClr>
                <a:srgbClr val="765F52"/>
              </a:buClr>
              <a:buSzTx/>
              <a:buFontTx/>
              <a:buChar char="•"/>
            </a:pP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/ 知识库连通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95054" y="5124450"/>
            <a:ext cx="15956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29540" indent="-129540" algn="l">
              <a:buClr>
                <a:srgbClr val="765F52"/>
              </a:buClr>
              <a:buSzTx/>
              <a:buFontTx/>
              <a:buChar char="•"/>
            </a:pPr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来源引用与异常回退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9201150" y="5543550"/>
            <a:ext cx="2152650" cy="400050"/>
          </a:xfrm>
          <a:prstGeom prst="roundRect">
            <a:avLst>
              <a:gd name="adj" fmla="val 14286"/>
            </a:avLst>
          </a:prstGeom>
          <a:solidFill>
            <a:srgbClr val="F8EDE4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502245" y="5661025"/>
            <a:ext cx="155046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 ≠ 云端能力已达标</a:t>
            </a:r>
            <a:endParaRPr lang="zh-CN" sz="112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Line 24"/>
          <p:cNvSpPr/>
          <p:nvPr/>
        </p:nvSpPr>
        <p:spPr>
          <a:xfrm>
            <a:off x="609600" y="6438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5D2C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04266" y="6540500"/>
            <a:ext cx="24560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本地原型截图 · 1440 × 900 · 浅色主题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21203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lang="en-US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ing"/>
          <p:cNvGrpSpPr/>
          <p:nvPr/>
        </p:nvGrpSpPr>
        <p:grpSpPr>
          <a:xfrm>
            <a:off x="596646" y="457200"/>
            <a:ext cx="7107555" cy="1022858"/>
            <a:chOff x="596646" y="457200"/>
            <a:chExt cx="7107555" cy="1022858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57200"/>
              <a:ext cx="1974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11 / DELIVERY ROADMAP</a:t>
              </a:r>
              <a:endParaRPr lang="en-US" sz="120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711200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八周推进：每个阶段都有可检查的交付物</a:t>
              </a:r>
              <a:endParaRPr lang="zh-CN" sz="25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2742" y="1216025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采用仓库原始八周实施计划；以下是开题后的相对周次安排，不代表这些阶段已经完成。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4" name="roadmap"/>
          <p:cNvGrpSpPr/>
          <p:nvPr/>
        </p:nvGrpSpPr>
        <p:grpSpPr>
          <a:xfrm>
            <a:off x="609600" y="1790700"/>
            <a:ext cx="10972800" cy="3238500"/>
            <a:chOff x="609600" y="1790700"/>
            <a:chExt cx="10972800" cy="3238500"/>
          </a:xfrm>
        </p:grpSpPr>
        <p:sp>
          <p:nvSpPr>
            <p:cNvPr id="6" name="Rectangle 6"/>
            <p:cNvSpPr/>
            <p:nvPr/>
          </p:nvSpPr>
          <p:spPr>
            <a:xfrm>
              <a:off x="609600" y="1790700"/>
              <a:ext cx="10972800" cy="323850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5D2C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90700"/>
              <a:ext cx="10972800" cy="457200"/>
            </a:xfrm>
            <a:prstGeom prst="rect">
              <a:avLst/>
            </a:prstGeom>
            <a:solidFill>
              <a:srgbClr val="34241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723" y="1933575"/>
              <a:ext cx="12549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阶段 / 主负责人</a:t>
              </a:r>
              <a:endParaRPr lang="zh-CN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36898" y="1933575"/>
              <a:ext cx="4717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W1–2</a:t>
              </a:r>
              <a:endParaRPr lang="en-US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70448" y="1933575"/>
              <a:ext cx="4717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W3–4</a:t>
              </a:r>
              <a:endParaRPr lang="en-US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03998" y="1933575"/>
              <a:ext cx="4717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W5–6</a:t>
              </a:r>
              <a:endParaRPr lang="en-US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37548" y="1933575"/>
              <a:ext cx="4717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W7–8</a:t>
              </a:r>
              <a:endParaRPr lang="en-US" sz="12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2501900"/>
              <a:ext cx="1724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需求 / 知识 · 柯常瑞</a:t>
              </a:r>
              <a:endParaRPr lang="zh-CN" sz="13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943350" y="2409825"/>
              <a:ext cx="1695450" cy="381000"/>
            </a:xfrm>
            <a:prstGeom prst="roundRect">
              <a:avLst>
                <a:gd name="adj" fmla="val 15000"/>
              </a:avLst>
            </a:prstGeom>
            <a:solidFill>
              <a:srgbClr val="39756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089273" y="2505075"/>
              <a:ext cx="124499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范围 / 资料核验</a:t>
              </a:r>
              <a:endParaRPr lang="zh-CN" sz="12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27598" y="250507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持续校验与更新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838200" y="2924175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1342" y="3178175"/>
              <a:ext cx="15430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交互 / 前端 · 范誉</a:t>
              </a:r>
              <a:endParaRPr lang="zh-CN" sz="13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943350" y="3095625"/>
              <a:ext cx="1695450" cy="381000"/>
            </a:xfrm>
            <a:prstGeom prst="roundRect">
              <a:avLst>
                <a:gd name="adj" fmla="val 15000"/>
              </a:avLst>
            </a:prstGeom>
            <a:solidFill>
              <a:srgbClr val="BF451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89273" y="3190875"/>
              <a:ext cx="124499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原型 / 静态页面</a:t>
              </a:r>
              <a:endParaRPr lang="zh-CN" sz="12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410450" y="3095625"/>
              <a:ext cx="1695450" cy="381000"/>
            </a:xfrm>
            <a:prstGeom prst="roundRect">
              <a:avLst>
                <a:gd name="adj" fmla="val 15000"/>
              </a:avLst>
            </a:prstGeom>
            <a:solidFill>
              <a:srgbClr val="BF451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56373" y="3190875"/>
              <a:ext cx="124499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接口联调 / 适配</a:t>
              </a:r>
              <a:endParaRPr lang="zh-CN" sz="12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838200" y="3609975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1342" y="3863975"/>
              <a:ext cx="1906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后端 / 智能体 · 徐梓凯</a:t>
              </a:r>
              <a:endParaRPr lang="zh-CN" sz="13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676900" y="3781425"/>
              <a:ext cx="1695450" cy="381000"/>
            </a:xfrm>
            <a:prstGeom prst="roundRect">
              <a:avLst>
                <a:gd name="adj" fmla="val 15000"/>
              </a:avLst>
            </a:prstGeom>
            <a:solidFill>
              <a:srgbClr val="4D698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22823" y="3876675"/>
              <a:ext cx="141731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接口 / 知识工作流</a:t>
              </a:r>
              <a:endParaRPr lang="zh-CN" sz="12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410450" y="3781425"/>
              <a:ext cx="1695450" cy="381000"/>
            </a:xfrm>
            <a:prstGeom prst="roundRect">
              <a:avLst>
                <a:gd name="adj" fmla="val 15000"/>
              </a:avLst>
            </a:prstGeom>
            <a:solidFill>
              <a:srgbClr val="4D698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56373" y="3876675"/>
              <a:ext cx="124499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联调 / 质量优化</a:t>
              </a:r>
              <a:endParaRPr lang="zh-CN" sz="12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838200" y="4295775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1342" y="4549775"/>
              <a:ext cx="15430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测试 / 交付 · 全员</a:t>
              </a:r>
              <a:endParaRPr lang="zh-CN" sz="13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17848" y="4562475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用例与接口契约持续维护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144000" y="4467225"/>
              <a:ext cx="2171700" cy="381000"/>
            </a:xfrm>
            <a:prstGeom prst="roundRect">
              <a:avLst>
                <a:gd name="adj" fmla="val 15000"/>
              </a:avLst>
            </a:prstGeom>
            <a:solidFill>
              <a:srgbClr val="92662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89923" y="4562475"/>
              <a:ext cx="178778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部署 / 材料 / 答辩演练</a:t>
              </a:r>
              <a:endParaRPr lang="zh-CN" sz="128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2" name="milestones"/>
          <p:cNvGrpSpPr/>
          <p:nvPr/>
        </p:nvGrpSpPr>
        <p:grpSpPr>
          <a:xfrm>
            <a:off x="609600" y="5257800"/>
            <a:ext cx="10972800" cy="904875"/>
            <a:chOff x="609600" y="5257800"/>
            <a:chExt cx="10972800" cy="904875"/>
          </a:xfrm>
        </p:grpSpPr>
        <p:sp>
          <p:nvSpPr>
            <p:cNvPr id="35" name="Rectangle 35"/>
            <p:cNvSpPr/>
            <p:nvPr/>
          </p:nvSpPr>
          <p:spPr>
            <a:xfrm>
              <a:off x="609600" y="5257800"/>
              <a:ext cx="10972800" cy="904875"/>
            </a:xfrm>
            <a:prstGeom prst="roundRect">
              <a:avLst>
                <a:gd name="adj" fmla="val 10526"/>
              </a:avLst>
            </a:prstGeom>
            <a:solidFill>
              <a:srgbClr val="F8EDE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2673" y="5410200"/>
              <a:ext cx="200184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W2：4 项知识 + 模拟页面</a:t>
              </a:r>
              <a:endParaRPr lang="zh-CN" sz="128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89323" y="5410200"/>
              <a:ext cx="18122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W5：浏览器全链路联调</a:t>
              </a:r>
              <a:endParaRPr lang="zh-CN" sz="128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65973" y="5410200"/>
              <a:ext cx="19846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W8：发布版本与验收材料</a:t>
              </a:r>
              <a:endParaRPr lang="zh-CN" sz="128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3054" y="575310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每项有来源，至少 20 条问题</a:t>
              </a:r>
              <a:endPara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89704" y="5753100"/>
              <a:ext cx="2346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追问 / 来源 / 反馈 / 超时可重试</a:t>
              </a:r>
              <a:endPara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66354" y="5753100"/>
              <a:ext cx="2039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40 条测试集、连续 5 次演示</a:t>
              </a:r>
              <a:endPara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604266" y="6438900"/>
            <a:ext cx="10983468" cy="306959"/>
            <a:chOff x="604266" y="6438900"/>
            <a:chExt cx="10983468" cy="306959"/>
          </a:xfrm>
        </p:grpSpPr>
        <p:sp>
          <p:nvSpPr>
            <p:cNvPr id="43" name="Line 43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4266" y="6540500"/>
              <a:ext cx="42936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依据：实施方案 §十一 八周实施计划 · 成员姓名按本轮用户确认映射</a:t>
              </a:r>
              <a:endPara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421580" y="65405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11</a:t>
              </a:r>
              <a:endParaRPr lang="en-US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048750" y="-2476500"/>
            <a:ext cx="4381500" cy="4381500"/>
          </a:xfrm>
          <a:prstGeom prst="ellipse">
            <a:avLst/>
          </a:prstGeom>
          <a:solidFill>
            <a:srgbClr val="BF451E">
              <a:alpha val="7000"/>
            </a:srgb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04266" y="482600"/>
            <a:ext cx="1218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EVALUATION</a:t>
            </a:r>
            <a:endParaRPr lang="en-US" sz="105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96646" y="711200"/>
            <a:ext cx="6204966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初步评测方案：先定义标准，再报告结果</a:t>
            </a:r>
            <a:endParaRPr lang="zh-CN" sz="25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3504" y="1200150"/>
            <a:ext cx="6635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以下均为开题阶段的验收目标，不代表当前已经达到；同一题集、同一来源时点下完成对比。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2" name="metric_cards"/>
          <p:cNvGrpSpPr/>
          <p:nvPr/>
        </p:nvGrpSpPr>
        <p:grpSpPr>
          <a:xfrm>
            <a:off x="609600" y="1714500"/>
            <a:ext cx="10972800" cy="1257300"/>
            <a:chOff x="609600" y="1714500"/>
            <a:chExt cx="10972800" cy="1257300"/>
          </a:xfrm>
        </p:grpSpPr>
        <p:sp>
          <p:nvSpPr>
            <p:cNvPr id="6" name="Rectangle 6"/>
            <p:cNvSpPr/>
            <p:nvPr/>
          </p:nvSpPr>
          <p:spPr>
            <a:xfrm>
              <a:off x="609600" y="1714500"/>
              <a:ext cx="2571750" cy="125730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D2C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485" y="191770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意图识别准确率</a:t>
              </a:r>
              <a:endParaRPr lang="zh-CN" sz="1120" b="1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5246" y="2197100"/>
              <a:ext cx="9991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≥ 90%</a:t>
              </a:r>
              <a:endParaRPr lang="en-US" sz="255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866" y="2654300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40题主测试集</a:t>
              </a:r>
              <a:endPara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409950" y="1714500"/>
              <a:ext cx="2571750" cy="125730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D2C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632835" y="1917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来源正确率</a:t>
              </a:r>
              <a:endParaRPr lang="zh-CN" sz="1120" b="1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25596" y="2197100"/>
              <a:ext cx="9991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39756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≥ 95%</a:t>
              </a:r>
              <a:endParaRPr lang="en-US" sz="2550" b="1" dirty="0">
                <a:solidFill>
                  <a:srgbClr val="3975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33216" y="2654300"/>
              <a:ext cx="1529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URL、状态、日期可核验</a:t>
              </a:r>
              <a:endPara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10300" y="1714500"/>
              <a:ext cx="2571750" cy="125730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D2C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33185" y="191770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关键字段完整率</a:t>
              </a:r>
              <a:endParaRPr lang="zh-CN" sz="1120" b="1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25946" y="2197100"/>
              <a:ext cx="9991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4D698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≥ 90%</a:t>
              </a:r>
              <a:endParaRPr lang="en-US" sz="2550" b="1" dirty="0">
                <a:solidFill>
                  <a:srgbClr val="4D6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33566" y="26543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条件、材料、步骤等</a:t>
              </a:r>
              <a:endPara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010650" y="1714500"/>
              <a:ext cx="2571750" cy="125730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D2C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33535" y="1917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库外拒答率</a:t>
              </a:r>
              <a:endParaRPr lang="zh-CN" sz="1120" b="1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26296" y="2197100"/>
              <a:ext cx="9991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9266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≥ 90%</a:t>
              </a:r>
              <a:endParaRPr lang="en-US" sz="2550" b="1" dirty="0">
                <a:solidFill>
                  <a:srgbClr val="9266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33916" y="2654300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另设10条专项题</a:t>
              </a:r>
              <a:endPara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9" name="dataset"/>
          <p:cNvGrpSpPr/>
          <p:nvPr/>
        </p:nvGrpSpPr>
        <p:grpSpPr>
          <a:xfrm>
            <a:off x="609600" y="3219450"/>
            <a:ext cx="6705600" cy="2628900"/>
            <a:chOff x="609600" y="3219450"/>
            <a:chExt cx="6705600" cy="2628900"/>
          </a:xfrm>
        </p:grpSpPr>
        <p:sp>
          <p:nvSpPr>
            <p:cNvPr id="23" name="Rectangle 23"/>
            <p:cNvSpPr/>
            <p:nvPr/>
          </p:nvSpPr>
          <p:spPr>
            <a:xfrm>
              <a:off x="609600" y="3219450"/>
              <a:ext cx="6705600" cy="26289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9525">
              <a:solidFill>
                <a:srgbClr val="E5D2C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0011" y="3403600"/>
              <a:ext cx="15733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40题主测试集构成</a:t>
              </a:r>
              <a:endParaRPr lang="zh-CN" sz="14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1154" y="3727450"/>
              <a:ext cx="3204972" cy="529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20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标准问法 8　口语表达 8　信息不全 6　错字 4</a:t>
              </a:r>
              <a:br>
                <a:rPr lang="zh-CN" sz="120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20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跨事项 4　库外问题 5　冲突/过期 3　不安全 2</a:t>
              </a:r>
              <a:endPara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857250" y="4533900"/>
              <a:ext cx="6210300" cy="9525"/>
            </a:xfrm>
            <a:custGeom>
              <a:avLst/>
              <a:gdLst/>
              <a:ahLst/>
              <a:cxnLst/>
              <a:rect l="l" t="t" r="r" b="b"/>
              <a:pathLst>
                <a:path w="6210300" h="9525">
                  <a:moveTo>
                    <a:pt x="0" y="0"/>
                  </a:moveTo>
                  <a:lnTo>
                    <a:pt x="62103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1154" y="47053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性能与稳定性</a:t>
              </a:r>
              <a:endParaRPr lang="zh-CN" sz="120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1535" y="4959350"/>
              <a:ext cx="3588766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典型回答目标 8 秒以内，连续测试 20 次</a:t>
              </a:r>
              <a:b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核心接口自动化测试 100% 通过；现场演示连续成功 5 次</a:t>
              </a:r>
              <a:endParaRPr lang="zh-CN" sz="112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" name="comparison"/>
          <p:cNvGrpSpPr/>
          <p:nvPr/>
        </p:nvGrpSpPr>
        <p:grpSpPr>
          <a:xfrm>
            <a:off x="7543800" y="3219450"/>
            <a:ext cx="4038600" cy="2628900"/>
            <a:chOff x="7543800" y="3219450"/>
            <a:chExt cx="4038600" cy="2628900"/>
          </a:xfrm>
        </p:grpSpPr>
        <p:sp>
          <p:nvSpPr>
            <p:cNvPr id="30" name="Rectangle 30"/>
            <p:cNvSpPr/>
            <p:nvPr/>
          </p:nvSpPr>
          <p:spPr>
            <a:xfrm>
              <a:off x="7543800" y="3219450"/>
              <a:ext cx="4038600" cy="2628900"/>
            </a:xfrm>
            <a:prstGeom prst="roundRect">
              <a:avLst>
                <a:gd name="adj" fmla="val 6522"/>
              </a:avLst>
            </a:prstGeom>
            <a:solidFill>
              <a:srgbClr val="34241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03261" y="342265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9F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对比与标注规则</a:t>
              </a:r>
              <a:endParaRPr lang="zh-CN" sz="1420" b="1" dirty="0">
                <a:solidFill>
                  <a:srgbClr val="FFF9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04785" y="3765550"/>
              <a:ext cx="2856230" cy="1105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120" dirty="0">
                  <a:solidFill>
                    <a:srgbClr val="F8EDE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对比：关键词检索 / FAQ / 无检索通用问答</a:t>
              </a:r>
              <a:br>
                <a:rPr lang="zh-CN" sz="1120" dirty="0">
                  <a:solidFill>
                    <a:srgbClr val="F8EDE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F8EDE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控制：固定问题、来源版本与测试时间</a:t>
              </a:r>
              <a:br>
                <a:rPr lang="zh-CN" sz="1120" dirty="0">
                  <a:solidFill>
                    <a:srgbClr val="F8EDE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F8EDE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标注：两人独立判断，分歧交由第三人仲裁</a:t>
              </a:r>
              <a:br>
                <a:rPr lang="zh-CN" sz="1120" dirty="0">
                  <a:solidFill>
                    <a:srgbClr val="F8EDE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F8EDE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记录：问题、状态、答案、来源、耗时与反馈</a:t>
              </a:r>
              <a:endParaRPr lang="zh-CN" sz="1120" dirty="0">
                <a:solidFill>
                  <a:srgbClr val="F8ED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10500" y="5276850"/>
              <a:ext cx="3505200" cy="361950"/>
            </a:xfrm>
            <a:prstGeom prst="roundRect">
              <a:avLst>
                <a:gd name="adj" fmla="val 26316"/>
              </a:avLst>
            </a:prstGeom>
            <a:solidFill>
              <a:srgbClr val="BF451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85607" y="5387975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输出评测表，不用主观演示替代量化结果</a:t>
              </a:r>
              <a:endParaRPr lang="zh-CN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6" name="Line 36"/>
          <p:cNvSpPr/>
          <p:nvPr/>
        </p:nvSpPr>
        <p:spPr>
          <a:xfrm>
            <a:off x="609600" y="6438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5D2C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04266" y="6540500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苏州大学 · 软件工程开题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1413806" y="6540500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lang="en-US" sz="1050" b="1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ing"/>
          <p:cNvGrpSpPr/>
          <p:nvPr/>
        </p:nvGrpSpPr>
        <p:grpSpPr>
          <a:xfrm>
            <a:off x="596646" y="457200"/>
            <a:ext cx="7289292" cy="1022858"/>
            <a:chOff x="596646" y="457200"/>
            <a:chExt cx="7289292" cy="1022858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57200"/>
              <a:ext cx="2333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13 / TEAM RESPONSIBILITIES</a:t>
              </a:r>
              <a:endParaRPr lang="en-US" sz="120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711200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成员分工：知识正确、用户会用、系统受控</a:t>
              </a:r>
              <a:endParaRPr lang="zh-CN" sz="25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2742" y="1216025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范誉担任队长，统筹协作与进度并主责前端；各成员按下表主责推进，协作而非完全割裂。</a:t>
              </a:r>
              <a:endParaRPr lang="zh-CN" sz="13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4" name="matrix"/>
          <p:cNvGrpSpPr/>
          <p:nvPr/>
        </p:nvGrpSpPr>
        <p:grpSpPr>
          <a:xfrm>
            <a:off x="609600" y="1714500"/>
            <a:ext cx="10972800" cy="4400550"/>
            <a:chOff x="609600" y="1714500"/>
            <a:chExt cx="10972800" cy="4400550"/>
          </a:xfrm>
        </p:grpSpPr>
        <p:sp>
          <p:nvSpPr>
            <p:cNvPr id="6" name="Rectangle 6"/>
            <p:cNvSpPr/>
            <p:nvPr/>
          </p:nvSpPr>
          <p:spPr>
            <a:xfrm>
              <a:off x="609600" y="1714500"/>
              <a:ext cx="10972800" cy="4400550"/>
            </a:xfrm>
            <a:prstGeom prst="roundRect">
              <a:avLst>
                <a:gd name="adj" fmla="val 2165"/>
              </a:avLst>
            </a:prstGeom>
            <a:solidFill>
              <a:srgbClr val="FFFFFF"/>
            </a:solidFill>
            <a:ln w="9525">
              <a:solidFill>
                <a:srgbClr val="E5D2C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685800"/>
            </a:xfrm>
            <a:prstGeom prst="rect">
              <a:avLst/>
            </a:prstGeom>
            <a:solidFill>
              <a:srgbClr val="34241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3242" y="18351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工作内容</a:t>
              </a:r>
              <a:endParaRPr lang="zh-CN" sz="13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97861" y="1812925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成员一 · 柯常瑞</a:t>
              </a:r>
              <a:endParaRPr lang="zh-CN" sz="14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9385" y="2117725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D6C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产品与知识工程</a:t>
              </a:r>
              <a:endParaRPr lang="zh-CN" sz="1120" dirty="0">
                <a:solidFill>
                  <a:srgbClr val="F0D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0611" y="1812925"/>
              <a:ext cx="19657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成员二 · 范誉（队长）</a:t>
              </a:r>
              <a:endParaRPr lang="zh-CN" sz="14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2135" y="2117725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D6C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交互与前端开发 / 统筹</a:t>
              </a:r>
              <a:endParaRPr lang="zh-CN" sz="1120" dirty="0">
                <a:solidFill>
                  <a:srgbClr val="F0D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03361" y="1812925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成员三 · 徐梓凯</a:t>
              </a:r>
              <a:endParaRPr lang="zh-CN" sz="14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04885" y="2117725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D6C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后端架构与智能体</a:t>
              </a:r>
              <a:endParaRPr lang="zh-CN" sz="1120" dirty="0">
                <a:solidFill>
                  <a:srgbClr val="F0D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3623" y="24955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需求调研</a:t>
              </a:r>
              <a:endParaRPr lang="zh-CN" sz="12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98623" y="24955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9756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主要负责</a:t>
              </a:r>
              <a:endParaRPr lang="zh-CN" sz="1280" dirty="0">
                <a:solidFill>
                  <a:srgbClr val="3975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51373" y="249555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参与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04123" y="249555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参与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771775"/>
              <a:ext cx="10591800" cy="9525"/>
            </a:xfrm>
            <a:custGeom>
              <a:avLst/>
              <a:gdLst/>
              <a:ahLst/>
              <a:cxnLst/>
              <a:rect l="l" t="t" r="r" b="b"/>
              <a:pathLst>
                <a:path w="10591800" h="9525">
                  <a:moveTo>
                    <a:pt x="0" y="0"/>
                  </a:moveTo>
                  <a:lnTo>
                    <a:pt x="105918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3623" y="2867025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办事资料整理</a:t>
              </a:r>
              <a:endParaRPr lang="zh-CN" sz="12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98623" y="286702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9756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主要负责</a:t>
              </a:r>
              <a:endParaRPr lang="zh-CN" sz="1280" dirty="0">
                <a:solidFill>
                  <a:srgbClr val="3975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51373" y="2867025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参与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04123" y="2867025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参与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800100" y="3143250"/>
              <a:ext cx="10591800" cy="9525"/>
            </a:xfrm>
            <a:custGeom>
              <a:avLst/>
              <a:gdLst/>
              <a:ahLst/>
              <a:cxnLst/>
              <a:rect l="l" t="t" r="r" b="b"/>
              <a:pathLst>
                <a:path w="10591800" h="9525">
                  <a:moveTo>
                    <a:pt x="0" y="0"/>
                  </a:moveTo>
                  <a:lnTo>
                    <a:pt x="105918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3623" y="3238500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知识库设计</a:t>
              </a:r>
              <a:endParaRPr lang="zh-CN" sz="12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98623" y="32385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9756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主要负责</a:t>
              </a:r>
              <a:endParaRPr lang="zh-CN" sz="1280" dirty="0">
                <a:solidFill>
                  <a:srgbClr val="3975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51373" y="323850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参与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04123" y="32385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D698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主要实现</a:t>
              </a:r>
              <a:endParaRPr lang="zh-CN" sz="1280" dirty="0">
                <a:solidFill>
                  <a:srgbClr val="4D6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800100" y="3514725"/>
              <a:ext cx="10591800" cy="9525"/>
            </a:xfrm>
            <a:custGeom>
              <a:avLst/>
              <a:gdLst/>
              <a:ahLst/>
              <a:cxnLst/>
              <a:rect l="l" t="t" r="r" b="b"/>
              <a:pathLst>
                <a:path w="10591800" h="9525">
                  <a:moveTo>
                    <a:pt x="0" y="0"/>
                  </a:moveTo>
                  <a:lnTo>
                    <a:pt x="105918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3623" y="360997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页面设计</a:t>
              </a:r>
              <a:endParaRPr lang="zh-CN" sz="12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98623" y="3609975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参与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51373" y="360997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主要负责</a:t>
              </a:r>
              <a:endParaRPr lang="zh-CN" sz="1280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04123" y="3609975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提供接口要求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800100" y="3886200"/>
              <a:ext cx="10591800" cy="9525"/>
            </a:xfrm>
            <a:custGeom>
              <a:avLst/>
              <a:gdLst/>
              <a:ahLst/>
              <a:cxnLst/>
              <a:rect l="l" t="t" r="r" b="b"/>
              <a:pathLst>
                <a:path w="10591800" h="9525">
                  <a:moveTo>
                    <a:pt x="0" y="0"/>
                  </a:moveTo>
                  <a:lnTo>
                    <a:pt x="105918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3623" y="39814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前端开发</a:t>
              </a:r>
              <a:endParaRPr lang="zh-CN" sz="12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98623" y="39814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参与测试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51373" y="39814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主要负责</a:t>
              </a:r>
              <a:endParaRPr lang="zh-CN" sz="1280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04123" y="39814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配合联调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Line 39"/>
            <p:cNvSpPr/>
            <p:nvPr/>
          </p:nvSpPr>
          <p:spPr>
            <a:xfrm>
              <a:off x="800100" y="4257675"/>
              <a:ext cx="10591800" cy="9525"/>
            </a:xfrm>
            <a:custGeom>
              <a:avLst/>
              <a:gdLst/>
              <a:ahLst/>
              <a:cxnLst/>
              <a:rect l="l" t="t" r="r" b="b"/>
              <a:pathLst>
                <a:path w="10591800" h="9525">
                  <a:moveTo>
                    <a:pt x="0" y="0"/>
                  </a:moveTo>
                  <a:lnTo>
                    <a:pt x="105918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3623" y="435292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后端开发</a:t>
              </a:r>
              <a:endParaRPr lang="zh-CN" sz="12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698623" y="435292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提供需求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51373" y="435292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配合接口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04123" y="435292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D698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主要负责</a:t>
              </a:r>
              <a:endParaRPr lang="zh-CN" sz="1280" dirty="0">
                <a:solidFill>
                  <a:srgbClr val="4D6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" name="Line 44"/>
            <p:cNvSpPr/>
            <p:nvPr/>
          </p:nvSpPr>
          <p:spPr>
            <a:xfrm>
              <a:off x="800100" y="4629150"/>
              <a:ext cx="10591800" cy="9525"/>
            </a:xfrm>
            <a:custGeom>
              <a:avLst/>
              <a:gdLst/>
              <a:ahLst/>
              <a:cxnLst/>
              <a:rect l="l" t="t" r="r" b="b"/>
              <a:pathLst>
                <a:path w="10591800" h="9525">
                  <a:moveTo>
                    <a:pt x="0" y="0"/>
                  </a:moveTo>
                  <a:lnTo>
                    <a:pt x="105918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3623" y="4724400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智能体设计</a:t>
              </a:r>
              <a:endParaRPr lang="zh-CN" sz="12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98623" y="4724400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设计问答场景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51373" y="47244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配合交互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04123" y="47244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D698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主要实现</a:t>
              </a:r>
              <a:endParaRPr lang="zh-CN" sz="1280" dirty="0">
                <a:solidFill>
                  <a:srgbClr val="4D6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9" name="Line 49"/>
            <p:cNvSpPr/>
            <p:nvPr/>
          </p:nvSpPr>
          <p:spPr>
            <a:xfrm>
              <a:off x="800100" y="5000625"/>
              <a:ext cx="10591800" cy="9525"/>
            </a:xfrm>
            <a:custGeom>
              <a:avLst/>
              <a:gdLst/>
              <a:ahLst/>
              <a:cxnLst/>
              <a:rect l="l" t="t" r="r" b="b"/>
              <a:pathLst>
                <a:path w="10591800" h="9525">
                  <a:moveTo>
                    <a:pt x="0" y="0"/>
                  </a:moveTo>
                  <a:lnTo>
                    <a:pt x="105918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3623" y="5095875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测试</a:t>
              </a:r>
              <a:endParaRPr lang="zh-CN" sz="12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698623" y="509587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9756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主要负责测试用例</a:t>
              </a:r>
              <a:endParaRPr lang="zh-CN" sz="1280" dirty="0">
                <a:solidFill>
                  <a:srgbClr val="3975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651373" y="509587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F451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主要负责界面测试</a:t>
              </a:r>
              <a:endParaRPr lang="zh-CN" sz="1280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04123" y="509587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D698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主要负责技术测试</a:t>
              </a:r>
              <a:endParaRPr lang="zh-CN" sz="1280" dirty="0">
                <a:solidFill>
                  <a:srgbClr val="4D6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4" name="Line 54"/>
            <p:cNvSpPr/>
            <p:nvPr/>
          </p:nvSpPr>
          <p:spPr>
            <a:xfrm>
              <a:off x="800100" y="5372100"/>
              <a:ext cx="10591800" cy="9525"/>
            </a:xfrm>
            <a:custGeom>
              <a:avLst/>
              <a:gdLst/>
              <a:ahLst/>
              <a:cxnLst/>
              <a:rect l="l" t="t" r="r" b="b"/>
              <a:pathLst>
                <a:path w="10591800" h="9525">
                  <a:moveTo>
                    <a:pt x="0" y="0"/>
                  </a:moveTo>
                  <a:lnTo>
                    <a:pt x="105918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3623" y="5467350"/>
              <a:ext cx="7303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答辩 PPT</a:t>
              </a:r>
              <a:endParaRPr lang="zh-CN" sz="12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698623" y="5467350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需求和价值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651373" y="54673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产品演示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04123" y="54673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技术架构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9" name="Line 59"/>
            <p:cNvSpPr/>
            <p:nvPr/>
          </p:nvSpPr>
          <p:spPr>
            <a:xfrm>
              <a:off x="800100" y="5743575"/>
              <a:ext cx="10591800" cy="9525"/>
            </a:xfrm>
            <a:custGeom>
              <a:avLst/>
              <a:gdLst/>
              <a:ahLst/>
              <a:cxnLst/>
              <a:rect l="l" t="t" r="r" b="b"/>
              <a:pathLst>
                <a:path w="10591800" h="9525">
                  <a:moveTo>
                    <a:pt x="0" y="0"/>
                  </a:moveTo>
                  <a:lnTo>
                    <a:pt x="105918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93623" y="583882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现场演示</a:t>
              </a:r>
              <a:endParaRPr lang="zh-CN" sz="128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698623" y="5838825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讲应用场景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651373" y="583882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操作系统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04123" y="5838825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讲技术实现</a:t>
              </a:r>
              <a:endParaRPr lang="zh-CN" sz="128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604266" y="6438900"/>
            <a:ext cx="10983468" cy="306959"/>
            <a:chOff x="604266" y="6438900"/>
            <a:chExt cx="10983468" cy="306959"/>
          </a:xfrm>
        </p:grpSpPr>
        <p:sp>
          <p:nvSpPr>
            <p:cNvPr id="65" name="Line 65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5D2C5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04266" y="6540500"/>
              <a:ext cx="48519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依据：用户提供的协作矩阵及成员身份确认 · 本页为确定分工，不再标注“拟”</a:t>
              </a:r>
              <a:endPara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421580" y="65405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13</a:t>
              </a:r>
              <a:endParaRPr lang="en-US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048750" y="-2476500"/>
            <a:ext cx="4381500" cy="4381500"/>
          </a:xfrm>
          <a:prstGeom prst="ellipse">
            <a:avLst/>
          </a:prstGeom>
          <a:solidFill>
            <a:srgbClr val="39756B">
              <a:alpha val="6000"/>
            </a:srgb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04266" y="482600"/>
            <a:ext cx="9986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SOURCES</a:t>
            </a:r>
            <a:endParaRPr lang="en-US" sz="105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96646" y="711200"/>
            <a:ext cx="311543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参考资料与来源边界</a:t>
            </a:r>
            <a:endParaRPr lang="zh-CN" sz="255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3504" y="1200150"/>
            <a:ext cx="6312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架构、数据库与评测内容均回到仓库文件核对；真实办事信息仍须以学校官方通知为准。</a:t>
            </a:r>
            <a:endParaRPr lang="zh-CN" sz="120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" name="repo"/>
          <p:cNvGrpSpPr/>
          <p:nvPr/>
        </p:nvGrpSpPr>
        <p:grpSpPr>
          <a:xfrm>
            <a:off x="609600" y="1752600"/>
            <a:ext cx="3429000" cy="3409950"/>
            <a:chOff x="609600" y="1752600"/>
            <a:chExt cx="3429000" cy="3409950"/>
          </a:xfrm>
        </p:grpSpPr>
        <p:sp>
          <p:nvSpPr>
            <p:cNvPr id="6" name="Rectangle 6"/>
            <p:cNvSpPr/>
            <p:nvPr/>
          </p:nvSpPr>
          <p:spPr>
            <a:xfrm>
              <a:off x="609600" y="1752600"/>
              <a:ext cx="3429000" cy="3409950"/>
            </a:xfrm>
            <a:prstGeom prst="roundRect">
              <a:avLst>
                <a:gd name="adj" fmla="val 5028"/>
              </a:avLst>
            </a:prstGeom>
            <a:solidFill>
              <a:srgbClr val="FFFFFF"/>
            </a:solidFill>
            <a:ln w="9525">
              <a:solidFill>
                <a:srgbClr val="E5D2C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52600"/>
              <a:ext cx="66675" cy="3409950"/>
            </a:xfrm>
            <a:prstGeom prst="roundRect">
              <a:avLst>
                <a:gd name="adj" fmla="val 50000"/>
              </a:avLst>
            </a:prstGeom>
            <a:solidFill>
              <a:srgbClr val="BF451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8680" y="19748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仓库事实依据</a:t>
              </a:r>
              <a:endParaRPr lang="zh-CN" sz="15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585" y="2355850"/>
              <a:ext cx="2273046" cy="1753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GitHub：fanyu99/</a:t>
              </a:r>
              <a:b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en-US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Campus-Service-Assistant</a:t>
              </a:r>
              <a:endParaRPr lang="en-US" sz="112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ts val="1875"/>
                </a:lnSpc>
                <a:spcBef>
                  <a:spcPts val="675"/>
                </a:spcBef>
              </a:pPr>
              <a: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plans/校园办事小秘书实施方案.md</a:t>
              </a:r>
              <a:endParaRPr lang="zh-CN" sz="112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ts val="1875"/>
                </a:lnSpc>
                <a:spcBef>
                  <a:spcPts val="675"/>
                </a:spcBef>
              </a:pPr>
              <a: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backend/app/models/ ORM 模型</a:t>
              </a:r>
              <a:endParaRPr lang="zh-CN" sz="112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ts val="1875"/>
                </a:lnSpc>
                <a:spcBef>
                  <a:spcPts val="675"/>
                </a:spcBef>
              </a:pPr>
              <a: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数据库迁移与接口实现</a:t>
              </a:r>
              <a:endParaRPr lang="zh-CN" sz="112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ts val="1875"/>
                </a:lnSpc>
                <a:spcBef>
                  <a:spcPts val="675"/>
                </a:spcBef>
              </a:pPr>
              <a: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frontend/ Vue 3 原型代码</a:t>
              </a:r>
              <a:endParaRPr lang="zh-CN" sz="112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" name="data"/>
          <p:cNvGrpSpPr/>
          <p:nvPr/>
        </p:nvGrpSpPr>
        <p:grpSpPr>
          <a:xfrm>
            <a:off x="4381500" y="1752600"/>
            <a:ext cx="3429000" cy="3409950"/>
            <a:chOff x="4381500" y="1752600"/>
            <a:chExt cx="3429000" cy="3409950"/>
          </a:xfrm>
        </p:grpSpPr>
        <p:sp>
          <p:nvSpPr>
            <p:cNvPr id="11" name="Rectangle 11"/>
            <p:cNvSpPr/>
            <p:nvPr/>
          </p:nvSpPr>
          <p:spPr>
            <a:xfrm>
              <a:off x="4381500" y="1752600"/>
              <a:ext cx="3429000" cy="3409950"/>
            </a:xfrm>
            <a:prstGeom prst="roundRect">
              <a:avLst>
                <a:gd name="adj" fmla="val 5028"/>
              </a:avLst>
            </a:prstGeom>
            <a:solidFill>
              <a:srgbClr val="FFFFFF"/>
            </a:solidFill>
            <a:ln w="9525">
              <a:solidFill>
                <a:srgbClr val="E5D2C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381500" y="1752600"/>
              <a:ext cx="66675" cy="3409950"/>
            </a:xfrm>
            <a:prstGeom prst="roundRect">
              <a:avLst>
                <a:gd name="adj" fmla="val 50000"/>
              </a:avLst>
            </a:prstGeom>
            <a:solidFill>
              <a:srgbClr val="39756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40580" y="19748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数据与知识来源</a:t>
              </a:r>
              <a:endParaRPr lang="zh-CN" sz="15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42485" y="2317750"/>
              <a:ext cx="2450846" cy="1401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学校官网及校内公开通知</a:t>
              </a:r>
              <a:b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公开办事指南、FAQ 与规则文件</a:t>
              </a:r>
              <a:b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记录发布部门、发布日期与官方 URL</a:t>
              </a:r>
              <a:b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标记 draft / verified / expired 状态</a:t>
              </a:r>
              <a:b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原型内容不替代学校正式政策</a:t>
              </a:r>
              <a:endParaRPr lang="zh-CN" sz="112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0" name="opensource"/>
          <p:cNvGrpSpPr/>
          <p:nvPr/>
        </p:nvGrpSpPr>
        <p:grpSpPr>
          <a:xfrm>
            <a:off x="8153400" y="1752600"/>
            <a:ext cx="3429000" cy="3409950"/>
            <a:chOff x="8153400" y="1752600"/>
            <a:chExt cx="3429000" cy="3409950"/>
          </a:xfrm>
        </p:grpSpPr>
        <p:sp>
          <p:nvSpPr>
            <p:cNvPr id="16" name="Rectangle 16"/>
            <p:cNvSpPr/>
            <p:nvPr/>
          </p:nvSpPr>
          <p:spPr>
            <a:xfrm>
              <a:off x="8153400" y="1752600"/>
              <a:ext cx="3429000" cy="3409950"/>
            </a:xfrm>
            <a:prstGeom prst="roundRect">
              <a:avLst>
                <a:gd name="adj" fmla="val 5028"/>
              </a:avLst>
            </a:prstGeom>
            <a:solidFill>
              <a:srgbClr val="FFFFFF"/>
            </a:solidFill>
            <a:ln w="9525">
              <a:solidFill>
                <a:srgbClr val="E5D2C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153400" y="1752600"/>
              <a:ext cx="66675" cy="3409950"/>
            </a:xfrm>
            <a:prstGeom prst="roundRect">
              <a:avLst>
                <a:gd name="adj" fmla="val 50000"/>
              </a:avLst>
            </a:prstGeom>
            <a:solidFill>
              <a:srgbClr val="4D698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12480" y="19748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开源与制作工具</a:t>
              </a:r>
              <a:endParaRPr lang="zh-CN" sz="150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14385" y="2317750"/>
              <a:ext cx="2401062" cy="1401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Vue.js · Vite · TypeScript</a:t>
              </a:r>
              <a:br>
                <a:rPr lang="en-US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en-US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FastAPI · Pydantic · SQLAlchemy</a:t>
              </a:r>
              <a:br>
                <a:rPr lang="en-US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en-US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MySQL · Alembic</a:t>
              </a:r>
              <a:br>
                <a:rPr lang="en-US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AgentArts（目标架构能力）</a:t>
              </a:r>
              <a:b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ppt-master：hugohe3/ppt-master</a:t>
              </a:r>
              <a:endParaRPr lang="zh-CN" sz="112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1" name="Rectangle 21"/>
          <p:cNvSpPr/>
          <p:nvPr/>
        </p:nvSpPr>
        <p:spPr>
          <a:xfrm>
            <a:off x="609600" y="5429250"/>
            <a:ext cx="10972800" cy="552450"/>
          </a:xfrm>
          <a:prstGeom prst="roundRect">
            <a:avLst>
              <a:gd name="adj" fmla="val 24138"/>
            </a:avLst>
          </a:prstGeom>
          <a:solidFill>
            <a:srgbClr val="34241D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70204" y="561975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9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交付要求：</a:t>
            </a:r>
            <a:endParaRPr lang="zh-CN" sz="1200" b="1" dirty="0">
              <a:solidFill>
                <a:srgbClr val="FFF9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41754" y="5619750"/>
            <a:ext cx="6322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8ED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代码、数据、架构与评测结果分离记录；任何关键结论都能定位到仓库文件或官方 URL。</a:t>
            </a:r>
            <a:endParaRPr lang="zh-CN" sz="1200" dirty="0">
              <a:solidFill>
                <a:srgbClr val="F8EDE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Line 24"/>
          <p:cNvSpPr/>
          <p:nvPr/>
        </p:nvSpPr>
        <p:spPr>
          <a:xfrm>
            <a:off x="609600" y="6438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5D2C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04266" y="6540500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苏州大学 · 软件工程开题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413806" y="6540500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lang="en-US" sz="1050" b="1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667750" y="-2762250"/>
            <a:ext cx="4762500" cy="4762500"/>
          </a:xfrm>
          <a:prstGeom prst="ellipse">
            <a:avLst/>
          </a:prstGeom>
          <a:solidFill>
            <a:srgbClr val="BF451E">
              <a:alpha val="8000"/>
            </a:srgb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1714500" y="4857750"/>
            <a:ext cx="4000500" cy="4000500"/>
          </a:xfrm>
          <a:prstGeom prst="ellipse">
            <a:avLst/>
          </a:prstGeom>
          <a:solidFill>
            <a:srgbClr val="39756B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609600" y="895350"/>
            <a:ext cx="10972800" cy="495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D2C5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47166" y="1397000"/>
            <a:ext cx="15004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BF45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SUMMARY &amp; Q&amp;A</a:t>
            </a:r>
            <a:endParaRPr lang="en-US" sz="1050" b="1" dirty="0">
              <a:solidFill>
                <a:srgbClr val="BF45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37641" y="1720850"/>
            <a:ext cx="6047932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从“信息入口”走向“可信办事助手”</a:t>
            </a:r>
            <a:endParaRPr lang="zh-CN" sz="2920" b="1" dirty="0">
              <a:solidFill>
                <a:srgbClr val="34241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5261" y="2279650"/>
            <a:ext cx="70874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先完成四个高频事项的可追溯闭环，再用统一指标验证准确性、稳定性与安全边界。</a:t>
            </a:r>
            <a:endParaRPr lang="zh-CN" sz="142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" name="summary"/>
          <p:cNvGrpSpPr/>
          <p:nvPr/>
        </p:nvGrpSpPr>
        <p:grpSpPr>
          <a:xfrm>
            <a:off x="952500" y="2876550"/>
            <a:ext cx="6667500" cy="1981200"/>
            <a:chOff x="952500" y="2876550"/>
            <a:chExt cx="6667500" cy="1981200"/>
          </a:xfrm>
        </p:grpSpPr>
        <p:sp>
          <p:nvSpPr>
            <p:cNvPr id="8" name="Rectangle 8"/>
            <p:cNvSpPr/>
            <p:nvPr/>
          </p:nvSpPr>
          <p:spPr>
            <a:xfrm>
              <a:off x="952500" y="2876550"/>
              <a:ext cx="6667500" cy="1981200"/>
            </a:xfrm>
            <a:prstGeom prst="roundRect">
              <a:avLst>
                <a:gd name="adj" fmla="val 7692"/>
              </a:avLst>
            </a:prstGeom>
            <a:solidFill>
              <a:srgbClr val="F8EDE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12342" y="30734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4241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开题后的三个检查点</a:t>
              </a:r>
              <a:endParaRPr lang="zh-CN" sz="1350" b="1" dirty="0">
                <a:solidFill>
                  <a:srgbClr val="34241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13104" y="3365500"/>
              <a:ext cx="4027932" cy="92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20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　P0 四事项：能识别、会澄清、有来源、可反馈</a:t>
              </a:r>
              <a:br>
                <a:rPr lang="zh-CN" sz="120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20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　技术链路：Vue 前端—FastAPI—MySQL—Agent / 知识库</a:t>
              </a:r>
              <a:br>
                <a:rPr lang="zh-CN" sz="120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200" dirty="0">
                  <a:solidFill>
                    <a:srgbClr val="76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　验收证据：40题评测、接口测试、连续5次演示</a:t>
              </a:r>
              <a:endParaRPr lang="zh-CN" sz="120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2" name="Ellipse 12"/>
          <p:cNvSpPr/>
          <p:nvPr/>
        </p:nvSpPr>
        <p:spPr>
          <a:xfrm>
            <a:off x="8305800" y="2495550"/>
            <a:ext cx="2438400" cy="2438400"/>
          </a:xfrm>
          <a:prstGeom prst="ellipse">
            <a:avLst/>
          </a:prstGeom>
          <a:solidFill>
            <a:srgbClr val="BF451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095308" y="3232150"/>
            <a:ext cx="85938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Q&amp;A</a:t>
            </a:r>
            <a:endParaRPr lang="en-US" sz="3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915425" y="3857625"/>
            <a:ext cx="1219149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9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欢迎提问与建议</a:t>
            </a:r>
            <a:endParaRPr lang="zh-CN" sz="1280" b="1" dirty="0">
              <a:solidFill>
                <a:srgbClr val="FFF9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46785" y="5156200"/>
            <a:ext cx="521716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指导老师：刘安　｜　范誉 · 徐梓凯 · </a:t>
            </a:r>
            <a:r>
              <a:rPr lang="zh-CN" sz="112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柯常瑞</a:t>
            </a:r>
            <a:endParaRPr lang="zh-CN" sz="112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Line 16"/>
          <p:cNvSpPr/>
          <p:nvPr/>
        </p:nvSpPr>
        <p:spPr>
          <a:xfrm>
            <a:off x="609600" y="6438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5D2C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04266" y="6540500"/>
            <a:ext cx="30002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苏州大学计算机科学与技术学院 · 软件工程专业</a:t>
            </a:r>
            <a:endParaRPr lang="zh-CN" sz="1050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413806" y="6540500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765F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lang="en-US" sz="1050" b="1" dirty="0">
              <a:solidFill>
                <a:srgbClr val="765F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87.5,&quot;left&quot;:48,&quot;top&quot;:157.5,&quot;width&quot;:864}"/>
</p:tagLst>
</file>

<file path=ppt/tags/tag2.xml><?xml version="1.0" encoding="utf-8"?>
<p:tagLst xmlns:p="http://schemas.openxmlformats.org/presentationml/2006/main">
  <p:tag name="KSO_WM_DIAGRAM_VIRTUALLY_FRAME" val="{&quot;height&quot;:187.5,&quot;left&quot;:48,&quot;top&quot;:157.5,&quot;width&quot;:864}"/>
</p:tagLst>
</file>

<file path=ppt/tags/tag3.xml><?xml version="1.0" encoding="utf-8"?>
<p:tagLst xmlns:p="http://schemas.openxmlformats.org/presentationml/2006/main">
  <p:tag name="KSO_WM_DIAGRAM_VIRTUALLY_FRAME" val="{&quot;height&quot;:187.5,&quot;left&quot;:48,&quot;top&quot;:157.5,&quot;width&quot;:864}"/>
</p:tagLst>
</file>

<file path=ppt/tags/tag4.xml><?xml version="1.0" encoding="utf-8"?>
<p:tagLst xmlns:p="http://schemas.openxmlformats.org/presentationml/2006/main">
  <p:tag name="KSO_WM_DIAGRAM_VIRTUALLY_FRAME" val="{&quot;height&quot;:187.5,&quot;left&quot;:48,&quot;top&quot;:157.5,&quot;width&quot;:864}"/>
</p:tagLst>
</file>

<file path=ppt/tags/tag5.xml><?xml version="1.0" encoding="utf-8"?>
<p:tagLst xmlns:p="http://schemas.openxmlformats.org/presentationml/2006/main">
  <p:tag name="KSO_WM_DIAGRAM_VIRTUALLY_FRAME" val="{&quot;height&quot;:187.5,&quot;left&quot;:48,&quot;top&quot;:157.5,&quot;width&quot;:864}"/>
</p:tagLst>
</file>

<file path=ppt/tags/tag6.xml><?xml version="1.0" encoding="utf-8"?>
<p:tagLst xmlns:p="http://schemas.openxmlformats.org/presentationml/2006/main">
  <p:tag name="KSO_WM_DIAGRAM_VIRTUALLY_FRAME" val="{&quot;height&quot;:187.5,&quot;left&quot;:48,&quot;top&quot;:157.5,&quot;width&quot;:864}"/>
</p:tagLst>
</file>

<file path=ppt/tags/tag7.xml><?xml version="1.0" encoding="utf-8"?>
<p:tagLst xmlns:p="http://schemas.openxmlformats.org/presentationml/2006/main">
  <p:tag name="KSO_WM_DIAGRAM_VIRTUALLY_FRAME" val="{&quot;height&quot;:187.5,&quot;left&quot;:48,&quot;top&quot;:157.5,&quot;width&quot;:864}"/>
</p:tagLst>
</file>

<file path=ppt/tags/tag8.xml><?xml version="1.0" encoding="utf-8"?>
<p:tagLst xmlns:p="http://schemas.openxmlformats.org/presentationml/2006/main">
  <p:tag name="KSO_WM_DIAGRAM_VIRTUALLY_FRAME" val="{&quot;height&quot;:187.5,&quot;left&quot;:48,&quot;top&quot;:157.5,&quot;width&quot;:864}"/>
</p:tagLst>
</file>

<file path=ppt/tags/tag9.xml><?xml version="1.0" encoding="utf-8"?>
<p:tagLst xmlns:p="http://schemas.openxmlformats.org/presentationml/2006/main">
  <p:tag name="KSO_WM_DIAGRAM_VIRTUALLY_FRAME" val="{&quot;height&quot;:187.5,&quot;left&quot;:48,&quot;top&quot;:157.5,&quot;width&quot;:864}"/>
</p:tagLst>
</file>

<file path=ppt/tags/tag10.xml><?xml version="1.0" encoding="utf-8"?>
<p:tagLst xmlns:p="http://schemas.openxmlformats.org/presentationml/2006/main">
  <p:tag name="KSO_WM_DIAGRAM_VIRTUALLY_FRAME" val="{&quot;height&quot;:187.5,&quot;left&quot;:48,&quot;top&quot;:157.5,&quot;width&quot;:864}"/>
</p:tagLst>
</file>

<file path=ppt/tags/tag11.xml><?xml version="1.0" encoding="utf-8"?>
<p:tagLst xmlns:p="http://schemas.openxmlformats.org/presentationml/2006/main">
  <p:tag name="KSO_WM_DIAGRAM_VIRTUALLY_FRAME" val="{&quot;height&quot;:187.5,&quot;left&quot;:48,&quot;top&quot;:157.5,&quot;width&quot;:864}"/>
</p:tagLst>
</file>

<file path=ppt/tags/tag12.xml><?xml version="1.0" encoding="utf-8"?>
<p:tagLst xmlns:p="http://schemas.openxmlformats.org/presentationml/2006/main">
  <p:tag name="KSO_WM_DIAGRAM_VIRTUALLY_FRAME" val="{&quot;height&quot;:187.5,&quot;left&quot;:48,&quot;top&quot;:157.5,&quot;width&quot;:864}"/>
</p:tagLst>
</file>

<file path=ppt/theme/theme1.xml><?xml version="1.0" encoding="utf-8"?>
<a:theme xmlns:a="http://schemas.openxmlformats.org/drawingml/2006/main" name="campus-service-opening_v3">
  <a:themeElements>
    <a:clrScheme name="campus-service-opening_v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pus-service-opening_v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ampus-service-opening_v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4768</Words>
  <Application>WPS 演示</Application>
  <PresentationFormat>On-screen Show (16:9)</PresentationFormat>
  <Paragraphs>676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campus-service-opening_v3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柯常瑞</cp:lastModifiedBy>
  <cp:revision>2</cp:revision>
  <dcterms:created xsi:type="dcterms:W3CDTF">2026-10-16T17:59:00Z</dcterms:created>
  <dcterms:modified xsi:type="dcterms:W3CDTF">2026-10-16T18:05:32Z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1BFE3F76B8664F8098B4813CE4B0F748_12</vt:lpwstr>
  </property>
</Properties>
</file>